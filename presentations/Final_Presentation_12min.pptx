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29 seconds.</a:t>
            </a:r>
          </a:p>
          <a:p>
            <a:r>
              <a:t>Introduce the engineering aim: predict the next sample causally, compare accuracy and cost, then inspect raw and residual diagnostic descriptors. The complete split upload now enables independent analysis of all 200 fault-candidate records. These are descriptive results without verified physical fault labels, not a validated diagnostic classifier.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44 seconds.</a:t>
            </a:r>
          </a:p>
          <a:p>
            <a:r>
              <a:t>The two reference/validation files each contain 24,000 samples at 3,200 Hz. The newly available twenty MAT parts preserve 200 separate candidate records, each 32,000 samples or 10 seconds. No records are flattened together. No second normalization is applied to supplied fault x. Speed physical units and health labels remain unverified.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49 seconds.</a:t>
            </a:r>
          </a:p>
          <a:p>
            <a:r>
              <a:t>Point to the ordering. For lag L, x[L] sees x[0:L], and speed inputs stop at L−1. Teacher forcing means previously measured vibration is available; this is not a free-running forecast. For causal models, changing future samples cannot change earlier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49 seconds.</a:t>
            </a:r>
          </a:p>
          <a:p>
            <a:r>
              <a:t>Explain ridge as squared-error fitting with a coefficient-size penalty. The LPV-AR surrogate expands past vibration with speed and speed-squared interactions, but has no moving-average innovation recursion or lecturer-paper sparse estimation. It is not Spa LPV-ARMA. No published score is invented.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54 seconds.</a:t>
            </a:r>
          </a:p>
          <a:p>
            <a:r>
              <a:t>MLP maps a finite history to a scalar; the GRU summarizes a unidirectional sequence with update/reset gates; the TCN uses left-only padded convolutions and increasing dilations. Two convolutions per block give receptive field 1+4 times the sum of dilations. Limited training budgets must be disclosed.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54 seconds.</a:t>
            </a:r>
          </a:p>
          <a:p>
            <a:r>
              <a:t>FiLM is an established conditioning mechanism. Here each past temporal feature receives a bounded gain and offset from that position's observed speed. Compare to unconditioned same-core TCN, late speed concatenation, a larger unconditioned capacity control and an explicitly off-line phase-shifted-speed negative control. The shifted control is excluded from causal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69 seconds.</a:t>
            </a:r>
          </a:p>
          <a:p>
            <a:r>
              <a:t>Read the table as measured validation performance, not test performance. The top row is an observed best configuration and its selection used this validation trace. Inspect the full CSV for all seeds and contexts rather than interpreting a single winning row as a population estimate.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54 seconds.</a:t>
            </a:r>
          </a:p>
          <a:p>
            <a:r>
              <a:t>Report CPU wall time and the actual timing boundary. The public inference path includes checkpoint deserialization, window preparation and full-record prediction; one warm-up and three repeats are used. These are not isolated kernel latencies. Linear fitting is float64 and neural fitting float32. GPU time was not measured.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64 seconds.</a:t>
            </a:r>
          </a:p>
          <a:p>
            <a:r>
              <a:t>The seed summary reflects initialization variability, not machine-to-machine variability. Context effects are compared on common target indices. A speed gain can depend on capacity, optimization and nearly matched operating histories. If the speed model loses, retain the result; novelty is a falsifiable experimental proposal.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44 seconds.</a:t>
            </a:r>
          </a:p>
          <a:p>
            <a:r>
              <a:t>Every supplied fault-candidate record is scored using previously trained reference predictors with no fault-data retraining. All models and raw features use the same 256-sample burn-in and remaining 31,744 samples per record. The displayed RMS trajectories are descriptive: record-index trends are not fault-onset labels, and reduced RMS is not detection accuracy.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54 seconds.</a:t>
            </a:r>
          </a:p>
          <a:p>
            <a:r>
              <a:t>The angle-domain indicators are computed under explicitly named RPM, revolutions-per-second and radians-per-second assumptions; none establishes the true speed unit. The literal MATLAB coarse index selects lag T minus one while the corrected branch selects T. The sensitivity plot compares actual record descriptors across these choices, not physical fault probabilities.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39 seconds.</a:t>
            </a:r>
          </a:p>
          <a:p>
            <a:r>
              <a:t>All candidate records now have real raw/residual feature measurements. Compare the displayed distributions and note speed dependence, normalization and equal segment length. There are no verified healthy/faulty classes, onset dates or severity values. A model with small residual MSE can also suppress periodic content. Consequently no ROC, F1 or sensitivity is justified and diagnostic model choice must remain provisional.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44 seconds.</a:t>
            </a:r>
          </a:p>
          <a:p>
            <a:r>
              <a:t>The transfer blocker has been resolved using the twenty split MAT files. Remaining limitations are unknown health labels and physical speed unit, validation reuse for model selection, only one short validation trace and nearly matched speed histories, and incomplete publisher access for exact Spa LPV-ARMA replication. Descriptive fault-record patterns do not resolve these inferential limits.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49 seconds.</a:t>
            </a:r>
          </a:p>
          <a:p>
            <a:r>
              <a:t>Answer RQ1 using the saved common-index validation table, and RQ2 using the measured CPU costs. Speed-FiLM does not improve mean validation MSE across the matched seeds. RQ4 now has real record-wise raw/residual and angular-assumption evidence, but physical fault accuracy remains unidentifiable without labels. Recommend inspecting both raw and model residual descriptors rather than declaring a physical fault winner.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24 seconds.</a:t>
            </a:r>
          </a:p>
          <a:p>
            <a:r>
              <a:t>Direct the audience to the verified literature matrix and access log. The course citation motivates speed-dependent modeling; author repositories support TCN and FiLM implementation concepts. Original TCN and FiLM studies were not gearbox validation studies. All claims here map to stored tables, configurations and figures.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Causal prediction under variable speed</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Final validation study · 12-minute speaking target · FINAL_DATE_UNCONFIRMED</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1</a:t>
            </a:r>
          </a:p>
        </p:txBody>
      </p:sp>
      <p:sp>
        <p:nvSpPr>
          <p:cNvPr id="7" name="TextBox 6"/>
          <p:cNvSpPr txBox="1"/>
          <p:nvPr/>
        </p:nvSpPr>
        <p:spPr>
          <a:xfrm>
            <a:off x="685800" y="1847088"/>
            <a:ext cx="10698480" cy="1078992"/>
          </a:xfrm>
          <a:prstGeom prst="rect">
            <a:avLst/>
          </a:prstGeom>
          <a:noFill/>
        </p:spPr>
        <p:txBody>
          <a:bodyPr wrap="square" lIns="27432" rIns="27432" tIns="27432" bIns="27432">
            <a:spAutoFit/>
          </a:bodyPr>
          <a:lstStyle/>
          <a:p>
            <a:pPr>
              <a:spcAft>
                <a:spcPts val="1100"/>
              </a:spcAft>
              <a:defRPr sz="3400" b="1">
                <a:solidFill>
                  <a:srgbClr val="122538"/>
                </a:solidFill>
                <a:latin typeface="Aptos"/>
              </a:defRPr>
            </a:pPr>
            <a:r>
              <a:t>Can a compact causal model explain vibration efficiently—and leave interpretable residuals?</a:t>
            </a:r>
          </a:p>
        </p:txBody>
      </p:sp>
      <p:sp>
        <p:nvSpPr>
          <p:cNvPr id="8" name="TextBox 7"/>
          <p:cNvSpPr txBox="1"/>
          <p:nvPr/>
        </p:nvSpPr>
        <p:spPr>
          <a:xfrm>
            <a:off x="594360" y="3429000"/>
            <a:ext cx="10972800" cy="2834639"/>
          </a:xfrm>
          <a:prstGeom prst="rect">
            <a:avLst/>
          </a:prstGeom>
          <a:noFill/>
        </p:spPr>
        <p:txBody>
          <a:bodyPr wrap="square" lIns="27432" rIns="27432" tIns="27432" bIns="27432">
            <a:spAutoFit/>
          </a:bodyPr>
          <a:lstStyle/>
          <a:p>
            <a:pPr>
              <a:spcAft>
                <a:spcPts val="1100"/>
              </a:spcAft>
              <a:defRPr sz="2100" b="0">
                <a:solidFill>
                  <a:srgbClr val="24323E"/>
                </a:solidFill>
                <a:latin typeface="Aptos"/>
              </a:defRPr>
            </a:pPr>
            <a:r>
              <a:t>• Best measured validation configuration: lpv_L256_s17_a1</a:t>
            </a:r>
          </a:p>
          <a:p>
            <a:pPr>
              <a:spcAft>
                <a:spcPts val="1100"/>
              </a:spcAft>
              <a:defRPr sz="2100" b="0">
                <a:solidFill>
                  <a:srgbClr val="24323E"/>
                </a:solidFill>
                <a:latin typeface="Aptos"/>
              </a:defRPr>
            </a:pPr>
            <a:r>
              <a:t>• Common-index MSE: 0.3612; independent test unavailable</a:t>
            </a:r>
          </a:p>
          <a:p>
            <a:pPr>
              <a:spcAft>
                <a:spcPts val="1100"/>
              </a:spcAft>
              <a:defRPr sz="2100" b="0">
                <a:solidFill>
                  <a:srgbClr val="24323E"/>
                </a:solidFill>
                <a:latin typeface="Aptos"/>
              </a:defRPr>
            </a:pPr>
            <a:r>
              <a:t>• 200 separate fault-candidate records processed; physical fault accuracy unverified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Data, provenance and limits</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One reference trace and one validation trace; no independent test</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2</a:t>
            </a:r>
          </a:p>
        </p:txBody>
      </p:sp>
      <p:sp>
        <p:nvSpPr>
          <p:cNvPr id="7" name="TextBox 6"/>
          <p:cNvSpPr txBox="1"/>
          <p:nvPr/>
        </p:nvSpPr>
        <p:spPr>
          <a:xfrm>
            <a:off x="594360" y="1783080"/>
            <a:ext cx="10972800" cy="4389120"/>
          </a:xfrm>
          <a:prstGeom prst="rect">
            <a:avLst/>
          </a:prstGeom>
          <a:noFill/>
        </p:spPr>
        <p:txBody>
          <a:bodyPr wrap="square" lIns="27432" rIns="27432" tIns="27432" bIns="27432">
            <a:spAutoFit/>
          </a:bodyPr>
          <a:lstStyle/>
          <a:p>
            <a:pPr>
              <a:spcAft>
                <a:spcPts val="1100"/>
              </a:spcAft>
              <a:defRPr sz="2100" b="0">
                <a:solidFill>
                  <a:srgbClr val="24323E"/>
                </a:solidFill>
                <a:latin typeface="Aptos"/>
              </a:defRPr>
            </a:pPr>
            <a:r>
              <a:t>• Train: 24,000 samples · Validation: 24,000 samples · fs = 3,200 Hz</a:t>
            </a:r>
          </a:p>
          <a:p>
            <a:pPr>
              <a:spcAft>
                <a:spcPts val="1100"/>
              </a:spcAft>
              <a:defRPr sz="2100" b="0">
                <a:solidFill>
                  <a:srgbClr val="24323E"/>
                </a:solidFill>
                <a:latin typeface="Aptos"/>
              </a:defRPr>
            </a:pPr>
            <a:r>
              <a:t>• Provided x and spdnorm are used exactly; no record-wise rescaling</a:t>
            </a:r>
          </a:p>
          <a:p>
            <a:pPr>
              <a:spcAft>
                <a:spcPts val="1100"/>
              </a:spcAft>
              <a:defRPr sz="2100" b="0">
                <a:solidFill>
                  <a:srgbClr val="24323E"/>
                </a:solidFill>
                <a:latin typeface="Aptos"/>
              </a:defRPr>
            </a:pPr>
            <a:r>
              <a:t>• Speed trajectory correlation: 0.999999571</a:t>
            </a:r>
          </a:p>
          <a:p>
            <a:pPr>
              <a:spcAft>
                <a:spcPts val="1100"/>
              </a:spcAft>
              <a:defRPr sz="2100" b="0">
                <a:solidFill>
                  <a:srgbClr val="24323E"/>
                </a:solidFill>
                <a:latin typeface="Aptos"/>
              </a:defRPr>
            </a:pPr>
            <a:r>
              <a:t>• Speed units / reference health state unverified; normalized x is dimensionless</a:t>
            </a:r>
          </a:p>
          <a:p>
            <a:pPr>
              <a:spcAft>
                <a:spcPts val="1100"/>
              </a:spcAft>
              <a:defRPr sz="2100" b="0">
                <a:solidFill>
                  <a:srgbClr val="24323E"/>
                </a:solidFill>
                <a:latin typeface="Aptos"/>
              </a:defRPr>
            </a:pPr>
            <a:r>
              <a:t>• Fault candidates: 200 separate 10-second records in 20 MAT parts</a:t>
            </a:r>
          </a:p>
          <a:p>
            <a:pPr>
              <a:spcAft>
                <a:spcPts val="1100"/>
              </a:spcAft>
              <a:defRPr sz="2100" b="0">
                <a:solidFill>
                  <a:srgbClr val="24323E"/>
                </a:solidFill>
                <a:latin typeface="Aptos"/>
              </a:defRPr>
            </a:pPr>
            <a:r>
              <a:t>• sigtest.mat and sigfault2.mat not supplied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Causality before model complexity</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Each target uses observed history only</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3</a:t>
            </a:r>
          </a:p>
        </p:txBody>
      </p:sp>
      <p:sp>
        <p:nvSpPr>
          <p:cNvPr id="7" name="Rounded Rectangle 6"/>
          <p:cNvSpPr/>
          <p:nvPr/>
        </p:nvSpPr>
        <p:spPr>
          <a:xfrm>
            <a:off x="594360" y="1965960"/>
            <a:ext cx="2505456" cy="1325880"/>
          </a:xfrm>
          <a:prstGeom prst="roundRect">
            <a:avLst/>
          </a:prstGeom>
          <a:solidFill>
            <a:srgbClr val="1225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Observed history</a:t>
            </a:r>
            <a:br/>
            <a:r>
              <a:t>x[t−L:t], s[t−L:t]</a:t>
            </a:r>
          </a:p>
        </p:txBody>
      </p:sp>
      <p:sp>
        <p:nvSpPr>
          <p:cNvPr id="8" name="TextBox 7"/>
          <p:cNvSpPr txBox="1"/>
          <p:nvPr/>
        </p:nvSpPr>
        <p:spPr>
          <a:xfrm>
            <a:off x="3127248" y="2404872"/>
            <a:ext cx="228600" cy="411480"/>
          </a:xfrm>
          <a:prstGeom prst="rect">
            <a:avLst/>
          </a:prstGeom>
          <a:noFill/>
        </p:spPr>
        <p:txBody>
          <a:bodyPr wrap="square" lIns="27432" rIns="27432" tIns="27432" bIns="27432">
            <a:spAutoFit/>
          </a:bodyPr>
          <a:lstStyle/>
          <a:p>
            <a:pPr>
              <a:spcAft>
                <a:spcPts val="1100"/>
              </a:spcAft>
              <a:defRPr sz="2000" b="1">
                <a:solidFill>
                  <a:srgbClr val="007080"/>
                </a:solidFill>
                <a:latin typeface="Aptos"/>
              </a:defRPr>
            </a:pPr>
            <a:r>
              <a:t>→</a:t>
            </a:r>
          </a:p>
        </p:txBody>
      </p:sp>
      <p:sp>
        <p:nvSpPr>
          <p:cNvPr id="9" name="Rounded Rectangle 8"/>
          <p:cNvSpPr/>
          <p:nvPr/>
        </p:nvSpPr>
        <p:spPr>
          <a:xfrm>
            <a:off x="3355848" y="1965960"/>
            <a:ext cx="2505456" cy="1325880"/>
          </a:xfrm>
          <a:prstGeom prst="round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Past-only windows</a:t>
            </a:r>
            <a:br/>
            <a:r>
              <a:t>no target values</a:t>
            </a:r>
          </a:p>
        </p:txBody>
      </p:sp>
      <p:sp>
        <p:nvSpPr>
          <p:cNvPr id="10" name="TextBox 9"/>
          <p:cNvSpPr txBox="1"/>
          <p:nvPr/>
        </p:nvSpPr>
        <p:spPr>
          <a:xfrm>
            <a:off x="5888736" y="2404872"/>
            <a:ext cx="228600" cy="411480"/>
          </a:xfrm>
          <a:prstGeom prst="rect">
            <a:avLst/>
          </a:prstGeom>
          <a:noFill/>
        </p:spPr>
        <p:txBody>
          <a:bodyPr wrap="square" lIns="27432" rIns="27432" tIns="27432" bIns="27432">
            <a:spAutoFit/>
          </a:bodyPr>
          <a:lstStyle/>
          <a:p>
            <a:pPr>
              <a:spcAft>
                <a:spcPts val="1100"/>
              </a:spcAft>
              <a:defRPr sz="2000" b="1">
                <a:solidFill>
                  <a:srgbClr val="007080"/>
                </a:solidFill>
                <a:latin typeface="Aptos"/>
              </a:defRPr>
            </a:pPr>
            <a:r>
              <a:t>→</a:t>
            </a:r>
          </a:p>
        </p:txBody>
      </p:sp>
      <p:sp>
        <p:nvSpPr>
          <p:cNvPr id="11" name="Rounded Rectangle 10"/>
          <p:cNvSpPr/>
          <p:nvPr/>
        </p:nvSpPr>
        <p:spPr>
          <a:xfrm>
            <a:off x="6117336" y="1965960"/>
            <a:ext cx="2505456" cy="1325880"/>
          </a:xfrm>
          <a:prstGeom prst="roundRect">
            <a:avLst/>
          </a:prstGeom>
          <a:solidFill>
            <a:srgbClr val="1225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Causal model</a:t>
            </a:r>
            <a:br/>
            <a:r>
              <a:t>x̂[t]</a:t>
            </a:r>
          </a:p>
        </p:txBody>
      </p:sp>
      <p:sp>
        <p:nvSpPr>
          <p:cNvPr id="12" name="TextBox 11"/>
          <p:cNvSpPr txBox="1"/>
          <p:nvPr/>
        </p:nvSpPr>
        <p:spPr>
          <a:xfrm>
            <a:off x="8650224" y="2404872"/>
            <a:ext cx="228600" cy="411480"/>
          </a:xfrm>
          <a:prstGeom prst="rect">
            <a:avLst/>
          </a:prstGeom>
          <a:noFill/>
        </p:spPr>
        <p:txBody>
          <a:bodyPr wrap="square" lIns="27432" rIns="27432" tIns="27432" bIns="27432">
            <a:spAutoFit/>
          </a:bodyPr>
          <a:lstStyle/>
          <a:p>
            <a:pPr>
              <a:spcAft>
                <a:spcPts val="1100"/>
              </a:spcAft>
              <a:defRPr sz="2000" b="1">
                <a:solidFill>
                  <a:srgbClr val="007080"/>
                </a:solidFill>
                <a:latin typeface="Aptos"/>
              </a:defRPr>
            </a:pPr>
            <a:r>
              <a:t>→</a:t>
            </a:r>
          </a:p>
        </p:txBody>
      </p:sp>
      <p:sp>
        <p:nvSpPr>
          <p:cNvPr id="13" name="Rounded Rectangle 12"/>
          <p:cNvSpPr/>
          <p:nvPr/>
        </p:nvSpPr>
        <p:spPr>
          <a:xfrm>
            <a:off x="8878824" y="1965960"/>
            <a:ext cx="2505456" cy="1325880"/>
          </a:xfrm>
          <a:prstGeom prst="round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Residual</a:t>
            </a:r>
            <a:br/>
            <a:r>
              <a:t>e[t] = x[t] − x̂[t]</a:t>
            </a:r>
          </a:p>
        </p:txBody>
      </p:sp>
      <p:sp>
        <p:nvSpPr>
          <p:cNvPr id="14" name="TextBox 13"/>
          <p:cNvSpPr txBox="1"/>
          <p:nvPr/>
        </p:nvSpPr>
        <p:spPr>
          <a:xfrm>
            <a:off x="640080" y="3794760"/>
            <a:ext cx="10881360" cy="1417320"/>
          </a:xfrm>
          <a:prstGeom prst="rect">
            <a:avLst/>
          </a:prstGeom>
          <a:noFill/>
        </p:spPr>
        <p:txBody>
          <a:bodyPr wrap="square" lIns="27432" rIns="27432" tIns="27432" bIns="27432">
            <a:spAutoFit/>
          </a:bodyPr>
          <a:lstStyle/>
          <a:p>
            <a:pPr>
              <a:spcAft>
                <a:spcPts val="1100"/>
              </a:spcAft>
              <a:defRPr sz="2400" b="0">
                <a:solidFill>
                  <a:srgbClr val="24323E"/>
                </a:solidFill>
                <a:latin typeface="Aptos"/>
              </a:defRPr>
            </a:pPr>
            <a:r>
              <a:t>Example: x[64] uses samples 0…63 only. One-step teacher forcing; no x[64] in model inputs.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The conventional comparison</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AR/ridge and LPV-AR surrogate; no replicated Spa LPV-ARMA score</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4</a:t>
            </a:r>
          </a:p>
        </p:txBody>
      </p:sp>
      <p:sp>
        <p:nvSpPr>
          <p:cNvPr id="7" name="TextBox 6"/>
          <p:cNvSpPr txBox="1"/>
          <p:nvPr/>
        </p:nvSpPr>
        <p:spPr>
          <a:xfrm>
            <a:off x="685800" y="1783080"/>
            <a:ext cx="10607040" cy="777240"/>
          </a:xfrm>
          <a:prstGeom prst="rect">
            <a:avLst/>
          </a:prstGeom>
          <a:noFill/>
        </p:spPr>
        <p:txBody>
          <a:bodyPr wrap="square" lIns="27432" rIns="27432" tIns="27432" bIns="27432">
            <a:spAutoFit/>
          </a:bodyPr>
          <a:lstStyle/>
          <a:p>
            <a:pPr>
              <a:spcAft>
                <a:spcPts val="1100"/>
              </a:spcAft>
              <a:defRPr sz="2900" b="1">
                <a:solidFill>
                  <a:srgbClr val="007080"/>
                </a:solidFill>
                <a:latin typeface="Aptos"/>
              </a:defRPr>
            </a:pPr>
            <a:r>
              <a:t>Ridge AR:  minimize ‖y − Xb‖² + α‖b‖²,  α = 1</a:t>
            </a:r>
          </a:p>
        </p:txBody>
      </p:sp>
      <p:sp>
        <p:nvSpPr>
          <p:cNvPr id="8" name="TextBox 7"/>
          <p:cNvSpPr txBox="1"/>
          <p:nvPr/>
        </p:nvSpPr>
        <p:spPr>
          <a:xfrm>
            <a:off x="594360" y="2788920"/>
            <a:ext cx="10972800" cy="3474720"/>
          </a:xfrm>
          <a:prstGeom prst="rect">
            <a:avLst/>
          </a:prstGeom>
          <a:noFill/>
        </p:spPr>
        <p:txBody>
          <a:bodyPr wrap="square" lIns="27432" rIns="27432" tIns="27432" bIns="27432">
            <a:spAutoFit/>
          </a:bodyPr>
          <a:lstStyle/>
          <a:p>
            <a:pPr>
              <a:spcAft>
                <a:spcPts val="1100"/>
              </a:spcAft>
              <a:defRPr sz="2200" b="0">
                <a:solidFill>
                  <a:srgbClr val="24323E"/>
                </a:solidFill>
                <a:latin typeface="Aptos"/>
              </a:defRPr>
            </a:pPr>
            <a:r>
              <a:t>• Zero, training-mean and persistence sanity checks</a:t>
            </a:r>
          </a:p>
          <a:p>
            <a:pPr>
              <a:spcAft>
                <a:spcPts val="1100"/>
              </a:spcAft>
              <a:defRPr sz="2200" b="0">
                <a:solidFill>
                  <a:srgbClr val="24323E"/>
                </a:solidFill>
                <a:latin typeface="Aptos"/>
              </a:defRPr>
            </a:pPr>
            <a:r>
              <a:t>• OLS and ridge AR; ARX appends past speed and speed²</a:t>
            </a:r>
          </a:p>
          <a:p>
            <a:pPr>
              <a:spcAft>
                <a:spcPts val="1100"/>
              </a:spcAft>
              <a:defRPr sz="2200" b="0">
                <a:solidFill>
                  <a:srgbClr val="24323E"/>
                </a:solidFill>
                <a:latin typeface="Aptos"/>
              </a:defRPr>
            </a:pPr>
            <a:r>
              <a:t>• LPV-AR: lag coefficients vary polynomially with speed at t−1</a:t>
            </a:r>
          </a:p>
          <a:p>
            <a:pPr>
              <a:spcAft>
                <a:spcPts val="1100"/>
              </a:spcAft>
              <a:defRPr sz="2200" b="0">
                <a:solidFill>
                  <a:srgbClr val="24323E"/>
                </a:solidFill>
                <a:latin typeface="Aptos"/>
              </a:defRPr>
            </a:pPr>
            <a:r>
              <a:t>• Measured ridge AR(256) validation MSE: 0.420058 (zero: 1.104077)</a:t>
            </a:r>
          </a:p>
          <a:p>
            <a:pPr>
              <a:spcAft>
                <a:spcPts val="1100"/>
              </a:spcAft>
              <a:defRPr sz="2200" b="0">
                <a:solidFill>
                  <a:srgbClr val="24323E"/>
                </a:solidFill>
                <a:latin typeface="Aptos"/>
              </a:defRPr>
            </a:pPr>
            <a:r>
              <a:t>• LPV-AR surrogate has no ARMA innovation recursion; no exact paper reproduction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Three compact neural ideas</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MLP lag mapping · GRU state · causal dilated TCN</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5</a:t>
            </a:r>
          </a:p>
        </p:txBody>
      </p:sp>
      <p:sp>
        <p:nvSpPr>
          <p:cNvPr id="7" name="Rounded Rectangle 6"/>
          <p:cNvSpPr/>
          <p:nvPr/>
        </p:nvSpPr>
        <p:spPr>
          <a:xfrm>
            <a:off x="594360" y="1965960"/>
            <a:ext cx="3425952" cy="1325880"/>
          </a:xfrm>
          <a:prstGeom prst="roundRect">
            <a:avLst/>
          </a:prstGeom>
          <a:solidFill>
            <a:srgbClr val="1225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MLP</a:t>
            </a:r>
            <a:br/>
            <a:r>
              <a:t>lag vector → scalar</a:t>
            </a:r>
          </a:p>
        </p:txBody>
      </p:sp>
      <p:sp>
        <p:nvSpPr>
          <p:cNvPr id="8" name="Rounded Rectangle 7"/>
          <p:cNvSpPr/>
          <p:nvPr/>
        </p:nvSpPr>
        <p:spPr>
          <a:xfrm>
            <a:off x="4276344" y="1965960"/>
            <a:ext cx="3425952" cy="1325880"/>
          </a:xfrm>
          <a:prstGeom prst="round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GRU</a:t>
            </a:r>
            <a:br/>
            <a:r>
              <a:t>update / reset gates</a:t>
            </a:r>
          </a:p>
        </p:txBody>
      </p:sp>
      <p:sp>
        <p:nvSpPr>
          <p:cNvPr id="9" name="Rounded Rectangle 8"/>
          <p:cNvSpPr/>
          <p:nvPr/>
        </p:nvSpPr>
        <p:spPr>
          <a:xfrm>
            <a:off x="7958328" y="1965960"/>
            <a:ext cx="3425952" cy="1325880"/>
          </a:xfrm>
          <a:prstGeom prst="roundRect">
            <a:avLst/>
          </a:prstGeom>
          <a:solidFill>
            <a:srgbClr val="1225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TCN</a:t>
            </a:r>
            <a:br/>
            <a:r>
              <a:t>causal dilations</a:t>
            </a:r>
          </a:p>
        </p:txBody>
      </p:sp>
      <p:sp>
        <p:nvSpPr>
          <p:cNvPr id="10" name="TextBox 9"/>
          <p:cNvSpPr txBox="1"/>
          <p:nvPr/>
        </p:nvSpPr>
        <p:spPr>
          <a:xfrm>
            <a:off x="640080" y="3794760"/>
            <a:ext cx="10881360" cy="1417320"/>
          </a:xfrm>
          <a:prstGeom prst="rect">
            <a:avLst/>
          </a:prstGeom>
          <a:noFill/>
        </p:spPr>
        <p:txBody>
          <a:bodyPr wrap="square" lIns="27432" rIns="27432" tIns="27432" bIns="27432">
            <a:spAutoFit/>
          </a:bodyPr>
          <a:lstStyle/>
          <a:p>
            <a:pPr>
              <a:spcAft>
                <a:spcPts val="1100"/>
              </a:spcAft>
              <a:defRPr sz="2400" b="0">
                <a:solidFill>
                  <a:srgbClr val="24323E"/>
                </a:solidFill>
                <a:latin typeface="Aptos"/>
              </a:defRPr>
            </a:pPr>
            <a:r>
              <a:t>Three separate model alternatives; compact networks, bounded epochs and recorded seeds. TCN: two kernel-3 convolutions per block; receptive field = 1 + 4 Σ dilation.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Speed-conditioning: contribution and controls</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A project-level adaptation; not a world-first claim</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6</a:t>
            </a:r>
          </a:p>
        </p:txBody>
      </p:sp>
      <p:sp>
        <p:nvSpPr>
          <p:cNvPr id="7" name="Rounded Rectangle 6"/>
          <p:cNvSpPr/>
          <p:nvPr/>
        </p:nvSpPr>
        <p:spPr>
          <a:xfrm>
            <a:off x="594360" y="1965960"/>
            <a:ext cx="2505456" cy="1325880"/>
          </a:xfrm>
          <a:prstGeom prst="roundRect">
            <a:avLst/>
          </a:prstGeom>
          <a:solidFill>
            <a:srgbClr val="1225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Past speed s[k]</a:t>
            </a:r>
          </a:p>
        </p:txBody>
      </p:sp>
      <p:sp>
        <p:nvSpPr>
          <p:cNvPr id="8" name="TextBox 7"/>
          <p:cNvSpPr txBox="1"/>
          <p:nvPr/>
        </p:nvSpPr>
        <p:spPr>
          <a:xfrm>
            <a:off x="3127248" y="2404872"/>
            <a:ext cx="228600" cy="411480"/>
          </a:xfrm>
          <a:prstGeom prst="rect">
            <a:avLst/>
          </a:prstGeom>
          <a:noFill/>
        </p:spPr>
        <p:txBody>
          <a:bodyPr wrap="square" lIns="27432" rIns="27432" tIns="27432" bIns="27432">
            <a:spAutoFit/>
          </a:bodyPr>
          <a:lstStyle/>
          <a:p>
            <a:pPr>
              <a:spcAft>
                <a:spcPts val="1100"/>
              </a:spcAft>
              <a:defRPr sz="2000" b="1">
                <a:solidFill>
                  <a:srgbClr val="007080"/>
                </a:solidFill>
                <a:latin typeface="Aptos"/>
              </a:defRPr>
            </a:pPr>
            <a:r>
              <a:t>→</a:t>
            </a:r>
          </a:p>
        </p:txBody>
      </p:sp>
      <p:sp>
        <p:nvSpPr>
          <p:cNvPr id="9" name="Rounded Rectangle 8"/>
          <p:cNvSpPr/>
          <p:nvPr/>
        </p:nvSpPr>
        <p:spPr>
          <a:xfrm>
            <a:off x="3355848" y="1965960"/>
            <a:ext cx="2505456" cy="1325880"/>
          </a:xfrm>
          <a:prstGeom prst="round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Small linear map</a:t>
            </a:r>
            <a:br/>
            <a:r>
              <a:t>γ(s), β(s)</a:t>
            </a:r>
          </a:p>
        </p:txBody>
      </p:sp>
      <p:sp>
        <p:nvSpPr>
          <p:cNvPr id="10" name="TextBox 9"/>
          <p:cNvSpPr txBox="1"/>
          <p:nvPr/>
        </p:nvSpPr>
        <p:spPr>
          <a:xfrm>
            <a:off x="5888736" y="2404872"/>
            <a:ext cx="228600" cy="411480"/>
          </a:xfrm>
          <a:prstGeom prst="rect">
            <a:avLst/>
          </a:prstGeom>
          <a:noFill/>
        </p:spPr>
        <p:txBody>
          <a:bodyPr wrap="square" lIns="27432" rIns="27432" tIns="27432" bIns="27432">
            <a:spAutoFit/>
          </a:bodyPr>
          <a:lstStyle/>
          <a:p>
            <a:pPr>
              <a:spcAft>
                <a:spcPts val="1100"/>
              </a:spcAft>
              <a:defRPr sz="2000" b="1">
                <a:solidFill>
                  <a:srgbClr val="007080"/>
                </a:solidFill>
                <a:latin typeface="Aptos"/>
              </a:defRPr>
            </a:pPr>
            <a:r>
              <a:t>→</a:t>
            </a:r>
          </a:p>
        </p:txBody>
      </p:sp>
      <p:sp>
        <p:nvSpPr>
          <p:cNvPr id="11" name="Rounded Rectangle 10"/>
          <p:cNvSpPr/>
          <p:nvPr/>
        </p:nvSpPr>
        <p:spPr>
          <a:xfrm>
            <a:off x="6117336" y="1965960"/>
            <a:ext cx="2505456" cy="1325880"/>
          </a:xfrm>
          <a:prstGeom prst="roundRect">
            <a:avLst/>
          </a:prstGeom>
          <a:solidFill>
            <a:srgbClr val="1225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h[k] × gain</a:t>
            </a:r>
            <a:br/>
            <a:r>
              <a:t>+ offset</a:t>
            </a:r>
          </a:p>
        </p:txBody>
      </p:sp>
      <p:sp>
        <p:nvSpPr>
          <p:cNvPr id="12" name="TextBox 11"/>
          <p:cNvSpPr txBox="1"/>
          <p:nvPr/>
        </p:nvSpPr>
        <p:spPr>
          <a:xfrm>
            <a:off x="8650224" y="2404872"/>
            <a:ext cx="228600" cy="411480"/>
          </a:xfrm>
          <a:prstGeom prst="rect">
            <a:avLst/>
          </a:prstGeom>
          <a:noFill/>
        </p:spPr>
        <p:txBody>
          <a:bodyPr wrap="square" lIns="27432" rIns="27432" tIns="27432" bIns="27432">
            <a:spAutoFit/>
          </a:bodyPr>
          <a:lstStyle/>
          <a:p>
            <a:pPr>
              <a:spcAft>
                <a:spcPts val="1100"/>
              </a:spcAft>
              <a:defRPr sz="2000" b="1">
                <a:solidFill>
                  <a:srgbClr val="007080"/>
                </a:solidFill>
                <a:latin typeface="Aptos"/>
              </a:defRPr>
            </a:pPr>
            <a:r>
              <a:t>→</a:t>
            </a:r>
          </a:p>
        </p:txBody>
      </p:sp>
      <p:sp>
        <p:nvSpPr>
          <p:cNvPr id="13" name="Rounded Rectangle 12"/>
          <p:cNvSpPr/>
          <p:nvPr/>
        </p:nvSpPr>
        <p:spPr>
          <a:xfrm>
            <a:off x="8878824" y="1965960"/>
            <a:ext cx="2505456" cy="1325880"/>
          </a:xfrm>
          <a:prstGeom prst="round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Causal prediction</a:t>
            </a:r>
          </a:p>
        </p:txBody>
      </p:sp>
      <p:sp>
        <p:nvSpPr>
          <p:cNvPr id="14" name="TextBox 13"/>
          <p:cNvSpPr txBox="1"/>
          <p:nvPr/>
        </p:nvSpPr>
        <p:spPr>
          <a:xfrm>
            <a:off x="640080" y="3794760"/>
            <a:ext cx="10881360" cy="1417320"/>
          </a:xfrm>
          <a:prstGeom prst="rect">
            <a:avLst/>
          </a:prstGeom>
          <a:noFill/>
        </p:spPr>
        <p:txBody>
          <a:bodyPr wrap="square" lIns="27432" rIns="27432" tIns="27432" bIns="27432">
            <a:spAutoFit/>
          </a:bodyPr>
          <a:lstStyle/>
          <a:p>
            <a:pPr>
              <a:spcAft>
                <a:spcPts val="1100"/>
              </a:spcAft>
              <a:defRPr sz="2400" b="0">
                <a:solidFill>
                  <a:srgbClr val="24323E"/>
                </a:solidFill>
                <a:latin typeface="Aptos"/>
              </a:defRPr>
            </a:pPr>
            <a:r>
              <a:t>Hypothesis: operating-speed information helps beyond extra capacity. Controls: late concatenation, larger unconditioned TCN and off-line phase-shifted speed (negative control only).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Measured validation performance</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Every model evaluated at exactly t = 256…23999 (zero-based)</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7</a:t>
            </a:r>
          </a:p>
        </p:txBody>
      </p:sp>
      <p:graphicFrame>
        <p:nvGraphicFramePr>
          <p:cNvPr id="7" name="Table 6"/>
          <p:cNvGraphicFramePr>
            <a:graphicFrameLocks noGrp="1"/>
          </p:cNvGraphicFramePr>
          <p:nvPr/>
        </p:nvGraphicFramePr>
        <p:xfrm>
          <a:off x="594360" y="1755648"/>
          <a:ext cx="10149840" cy="3611880"/>
        </p:xfrm>
        <a:graphic>
          <a:graphicData uri="http://schemas.openxmlformats.org/drawingml/2006/table">
            <a:tbl>
              <a:tblPr firstRow="1" bandRow="1">
                <a:tableStyleId>{5C22544A-7EE6-4342-B048-85BDC9FD1C3A}</a:tableStyleId>
              </a:tblPr>
              <a:tblGrid>
                <a:gridCol w="3474720"/>
                <a:gridCol w="640080"/>
                <a:gridCol w="1280160"/>
                <a:gridCol w="1463040"/>
                <a:gridCol w="1645920"/>
                <a:gridCol w="1645920"/>
              </a:tblGrid>
              <a:tr h="401320">
                <a:tc>
                  <a:txBody>
                    <a:bodyPr/>
                    <a:lstStyle/>
                    <a:p>
                      <a:pPr>
                        <a:defRPr sz="1500" b="1">
                          <a:solidFill>
                            <a:srgbClr val="FFFFFF"/>
                          </a:solidFill>
                          <a:latin typeface="Aptos"/>
                        </a:defRPr>
                      </a:pPr>
                      <a:r>
                        <a:t>Model</a:t>
                      </a:r>
                    </a:p>
                  </a:txBody>
                  <a:tcPr>
                    <a:solidFill>
                      <a:srgbClr val="122538"/>
                    </a:solidFill>
                  </a:tcPr>
                </a:tc>
                <a:tc>
                  <a:txBody>
                    <a:bodyPr/>
                    <a:lstStyle/>
                    <a:p>
                      <a:pPr>
                        <a:defRPr sz="1500" b="1">
                          <a:solidFill>
                            <a:srgbClr val="FFFFFF"/>
                          </a:solidFill>
                          <a:latin typeface="Aptos"/>
                        </a:defRPr>
                      </a:pPr>
                      <a:r>
                        <a:t>Lag</a:t>
                      </a:r>
                    </a:p>
                  </a:txBody>
                  <a:tcPr>
                    <a:solidFill>
                      <a:srgbClr val="122538"/>
                    </a:solidFill>
                  </a:tcPr>
                </a:tc>
                <a:tc>
                  <a:txBody>
                    <a:bodyPr/>
                    <a:lstStyle/>
                    <a:p>
                      <a:pPr>
                        <a:defRPr sz="1500" b="1">
                          <a:solidFill>
                            <a:srgbClr val="FFFFFF"/>
                          </a:solidFill>
                          <a:latin typeface="Aptos"/>
                        </a:defRPr>
                      </a:pPr>
                      <a:r>
                        <a:t>MSE</a:t>
                      </a:r>
                    </a:p>
                  </a:txBody>
                  <a:tcPr>
                    <a:solidFill>
                      <a:srgbClr val="122538"/>
                    </a:solidFill>
                  </a:tcPr>
                </a:tc>
                <a:tc>
                  <a:txBody>
                    <a:bodyPr/>
                    <a:lstStyle/>
                    <a:p>
                      <a:pPr>
                        <a:defRPr sz="1500" b="1">
                          <a:solidFill>
                            <a:srgbClr val="FFFFFF"/>
                          </a:solidFill>
                          <a:latin typeface="Aptos"/>
                        </a:defRPr>
                      </a:pPr>
                      <a:r>
                        <a:t>Parameters</a:t>
                      </a:r>
                    </a:p>
                  </a:txBody>
                  <a:tcPr>
                    <a:solidFill>
                      <a:srgbClr val="122538"/>
                    </a:solidFill>
                  </a:tcPr>
                </a:tc>
                <a:tc>
                  <a:txBody>
                    <a:bodyPr/>
                    <a:lstStyle/>
                    <a:p>
                      <a:pPr>
                        <a:defRPr sz="1500" b="1">
                          <a:solidFill>
                            <a:srgbClr val="FFFFFF"/>
                          </a:solidFill>
                          <a:latin typeface="Aptos"/>
                        </a:defRPr>
                      </a:pPr>
                      <a:r>
                        <a:t>Train s</a:t>
                      </a:r>
                    </a:p>
                  </a:txBody>
                  <a:tcPr>
                    <a:solidFill>
                      <a:srgbClr val="122538"/>
                    </a:solidFill>
                  </a:tcPr>
                </a:tc>
                <a:tc>
                  <a:txBody>
                    <a:bodyPr/>
                    <a:lstStyle/>
                    <a:p>
                      <a:pPr>
                        <a:defRPr sz="1500" b="1">
                          <a:solidFill>
                            <a:srgbClr val="FFFFFF"/>
                          </a:solidFill>
                          <a:latin typeface="Aptos"/>
                        </a:defRPr>
                      </a:pPr>
                      <a:r>
                        <a:t>Record s</a:t>
                      </a:r>
                    </a:p>
                  </a:txBody>
                  <a:tcPr>
                    <a:solidFill>
                      <a:srgbClr val="122538"/>
                    </a:solidFill>
                  </a:tcPr>
                </a:tc>
              </a:tr>
              <a:tr h="401320">
                <a:tc>
                  <a:txBody>
                    <a:bodyPr/>
                    <a:lstStyle/>
                    <a:p>
                      <a:pPr>
                        <a:defRPr sz="1500" b="0">
                          <a:solidFill>
                            <a:srgbClr val="24323E"/>
                          </a:solidFill>
                          <a:latin typeface="Aptos"/>
                        </a:defRPr>
                      </a:pPr>
                      <a:r>
                        <a:t>lpv</a:t>
                      </a:r>
                    </a:p>
                  </a:txBody>
                  <a:tcPr>
                    <a:solidFill>
                      <a:srgbClr val="FFFFFF"/>
                    </a:solidFill>
                  </a:tcPr>
                </a:tc>
                <a:tc>
                  <a:txBody>
                    <a:bodyPr/>
                    <a:lstStyle/>
                    <a:p>
                      <a:pPr>
                        <a:defRPr sz="1500" b="0">
                          <a:solidFill>
                            <a:srgbClr val="24323E"/>
                          </a:solidFill>
                          <a:latin typeface="Aptos"/>
                        </a:defRPr>
                      </a:pPr>
                      <a:r>
                        <a:t>256</a:t>
                      </a:r>
                    </a:p>
                  </a:txBody>
                  <a:tcPr>
                    <a:solidFill>
                      <a:srgbClr val="FFFFFF"/>
                    </a:solidFill>
                  </a:tcPr>
                </a:tc>
                <a:tc>
                  <a:txBody>
                    <a:bodyPr/>
                    <a:lstStyle/>
                    <a:p>
                      <a:pPr>
                        <a:defRPr sz="1500" b="0">
                          <a:solidFill>
                            <a:srgbClr val="24323E"/>
                          </a:solidFill>
                          <a:latin typeface="Aptos"/>
                        </a:defRPr>
                      </a:pPr>
                      <a:r>
                        <a:t>0.3612</a:t>
                      </a:r>
                    </a:p>
                  </a:txBody>
                  <a:tcPr>
                    <a:solidFill>
                      <a:srgbClr val="FFFFFF"/>
                    </a:solidFill>
                  </a:tcPr>
                </a:tc>
                <a:tc>
                  <a:txBody>
                    <a:bodyPr/>
                    <a:lstStyle/>
                    <a:p>
                      <a:pPr>
                        <a:defRPr sz="1500" b="0">
                          <a:solidFill>
                            <a:srgbClr val="24323E"/>
                          </a:solidFill>
                          <a:latin typeface="Aptos"/>
                        </a:defRPr>
                      </a:pPr>
                      <a:r>
                        <a:t>769</a:t>
                      </a:r>
                    </a:p>
                  </a:txBody>
                  <a:tcPr>
                    <a:solidFill>
                      <a:srgbClr val="FFFFFF"/>
                    </a:solidFill>
                  </a:tcPr>
                </a:tc>
                <a:tc>
                  <a:txBody>
                    <a:bodyPr/>
                    <a:lstStyle/>
                    <a:p>
                      <a:pPr>
                        <a:defRPr sz="1500" b="0">
                          <a:solidFill>
                            <a:srgbClr val="24323E"/>
                          </a:solidFill>
                          <a:latin typeface="Aptos"/>
                        </a:defRPr>
                      </a:pPr>
                      <a:r>
                        <a:t>0.766</a:t>
                      </a:r>
                    </a:p>
                  </a:txBody>
                  <a:tcPr>
                    <a:solidFill>
                      <a:srgbClr val="FFFFFF"/>
                    </a:solidFill>
                  </a:tcPr>
                </a:tc>
                <a:tc>
                  <a:txBody>
                    <a:bodyPr/>
                    <a:lstStyle/>
                    <a:p>
                      <a:pPr>
                        <a:defRPr sz="1500" b="0">
                          <a:solidFill>
                            <a:srgbClr val="24323E"/>
                          </a:solidFill>
                          <a:latin typeface="Aptos"/>
                        </a:defRPr>
                      </a:pPr>
                      <a:r>
                        <a:t>0.123</a:t>
                      </a:r>
                    </a:p>
                  </a:txBody>
                  <a:tcPr>
                    <a:solidFill>
                      <a:srgbClr val="FFFFFF"/>
                    </a:solidFill>
                  </a:tcPr>
                </a:tc>
              </a:tr>
              <a:tr h="401320">
                <a:tc>
                  <a:txBody>
                    <a:bodyPr/>
                    <a:lstStyle/>
                    <a:p>
                      <a:pPr>
                        <a:defRPr sz="1500" b="0">
                          <a:solidFill>
                            <a:srgbClr val="24323E"/>
                          </a:solidFill>
                          <a:latin typeface="Aptos"/>
                        </a:defRPr>
                      </a:pPr>
                      <a:r>
                        <a:t>ar</a:t>
                      </a:r>
                    </a:p>
                  </a:txBody>
                  <a:tcPr>
                    <a:solidFill>
                      <a:srgbClr val="E9F1F3"/>
                    </a:solidFill>
                  </a:tcPr>
                </a:tc>
                <a:tc>
                  <a:txBody>
                    <a:bodyPr/>
                    <a:lstStyle/>
                    <a:p>
                      <a:pPr>
                        <a:defRPr sz="1500" b="0">
                          <a:solidFill>
                            <a:srgbClr val="24323E"/>
                          </a:solidFill>
                          <a:latin typeface="Aptos"/>
                        </a:defRPr>
                      </a:pPr>
                      <a:r>
                        <a:t>256</a:t>
                      </a:r>
                    </a:p>
                  </a:txBody>
                  <a:tcPr>
                    <a:solidFill>
                      <a:srgbClr val="E9F1F3"/>
                    </a:solidFill>
                  </a:tcPr>
                </a:tc>
                <a:tc>
                  <a:txBody>
                    <a:bodyPr/>
                    <a:lstStyle/>
                    <a:p>
                      <a:pPr>
                        <a:defRPr sz="1500" b="0">
                          <a:solidFill>
                            <a:srgbClr val="24323E"/>
                          </a:solidFill>
                          <a:latin typeface="Aptos"/>
                        </a:defRPr>
                      </a:pPr>
                      <a:r>
                        <a:t>0.4201</a:t>
                      </a:r>
                    </a:p>
                  </a:txBody>
                  <a:tcPr>
                    <a:solidFill>
                      <a:srgbClr val="E9F1F3"/>
                    </a:solidFill>
                  </a:tcPr>
                </a:tc>
                <a:tc>
                  <a:txBody>
                    <a:bodyPr/>
                    <a:lstStyle/>
                    <a:p>
                      <a:pPr>
                        <a:defRPr sz="1500" b="0">
                          <a:solidFill>
                            <a:srgbClr val="24323E"/>
                          </a:solidFill>
                          <a:latin typeface="Aptos"/>
                        </a:defRPr>
                      </a:pPr>
                      <a:r>
                        <a:t>257</a:t>
                      </a:r>
                    </a:p>
                  </a:txBody>
                  <a:tcPr>
                    <a:solidFill>
                      <a:srgbClr val="E9F1F3"/>
                    </a:solidFill>
                  </a:tcPr>
                </a:tc>
                <a:tc>
                  <a:txBody>
                    <a:bodyPr/>
                    <a:lstStyle/>
                    <a:p>
                      <a:pPr>
                        <a:defRPr sz="1500" b="0">
                          <a:solidFill>
                            <a:srgbClr val="24323E"/>
                          </a:solidFill>
                          <a:latin typeface="Aptos"/>
                        </a:defRPr>
                      </a:pPr>
                      <a:r>
                        <a:t>0.069</a:t>
                      </a:r>
                    </a:p>
                  </a:txBody>
                  <a:tcPr>
                    <a:solidFill>
                      <a:srgbClr val="E9F1F3"/>
                    </a:solidFill>
                  </a:tcPr>
                </a:tc>
                <a:tc>
                  <a:txBody>
                    <a:bodyPr/>
                    <a:lstStyle/>
                    <a:p>
                      <a:pPr>
                        <a:defRPr sz="1500" b="0">
                          <a:solidFill>
                            <a:srgbClr val="24323E"/>
                          </a:solidFill>
                          <a:latin typeface="Aptos"/>
                        </a:defRPr>
                      </a:pPr>
                      <a:r>
                        <a:t>0.007</a:t>
                      </a:r>
                    </a:p>
                  </a:txBody>
                  <a:tcPr>
                    <a:solidFill>
                      <a:srgbClr val="E9F1F3"/>
                    </a:solidFill>
                  </a:tcPr>
                </a:tc>
              </a:tr>
              <a:tr h="401320">
                <a:tc>
                  <a:txBody>
                    <a:bodyPr/>
                    <a:lstStyle/>
                    <a:p>
                      <a:pPr>
                        <a:defRPr sz="1500" b="0">
                          <a:solidFill>
                            <a:srgbClr val="24323E"/>
                          </a:solidFill>
                          <a:latin typeface="Aptos"/>
                        </a:defRPr>
                      </a:pPr>
                      <a:r>
                        <a:t>ols</a:t>
                      </a:r>
                    </a:p>
                  </a:txBody>
                  <a:tcPr>
                    <a:solidFill>
                      <a:srgbClr val="FFFFFF"/>
                    </a:solidFill>
                  </a:tcPr>
                </a:tc>
                <a:tc>
                  <a:txBody>
                    <a:bodyPr/>
                    <a:lstStyle/>
                    <a:p>
                      <a:pPr>
                        <a:defRPr sz="1500" b="0">
                          <a:solidFill>
                            <a:srgbClr val="24323E"/>
                          </a:solidFill>
                          <a:latin typeface="Aptos"/>
                        </a:defRPr>
                      </a:pPr>
                      <a:r>
                        <a:t>256</a:t>
                      </a:r>
                    </a:p>
                  </a:txBody>
                  <a:tcPr>
                    <a:solidFill>
                      <a:srgbClr val="FFFFFF"/>
                    </a:solidFill>
                  </a:tcPr>
                </a:tc>
                <a:tc>
                  <a:txBody>
                    <a:bodyPr/>
                    <a:lstStyle/>
                    <a:p>
                      <a:pPr>
                        <a:defRPr sz="1500" b="0">
                          <a:solidFill>
                            <a:srgbClr val="24323E"/>
                          </a:solidFill>
                          <a:latin typeface="Aptos"/>
                        </a:defRPr>
                      </a:pPr>
                      <a:r>
                        <a:t>0.4201</a:t>
                      </a:r>
                    </a:p>
                  </a:txBody>
                  <a:tcPr>
                    <a:solidFill>
                      <a:srgbClr val="FFFFFF"/>
                    </a:solidFill>
                  </a:tcPr>
                </a:tc>
                <a:tc>
                  <a:txBody>
                    <a:bodyPr/>
                    <a:lstStyle/>
                    <a:p>
                      <a:pPr>
                        <a:defRPr sz="1500" b="0">
                          <a:solidFill>
                            <a:srgbClr val="24323E"/>
                          </a:solidFill>
                          <a:latin typeface="Aptos"/>
                        </a:defRPr>
                      </a:pPr>
                      <a:r>
                        <a:t>257</a:t>
                      </a:r>
                    </a:p>
                  </a:txBody>
                  <a:tcPr>
                    <a:solidFill>
                      <a:srgbClr val="FFFFFF"/>
                    </a:solidFill>
                  </a:tcPr>
                </a:tc>
                <a:tc>
                  <a:txBody>
                    <a:bodyPr/>
                    <a:lstStyle/>
                    <a:p>
                      <a:pPr>
                        <a:defRPr sz="1500" b="0">
                          <a:solidFill>
                            <a:srgbClr val="24323E"/>
                          </a:solidFill>
                          <a:latin typeface="Aptos"/>
                        </a:defRPr>
                      </a:pPr>
                      <a:r>
                        <a:t>0.264</a:t>
                      </a:r>
                    </a:p>
                  </a:txBody>
                  <a:tcPr>
                    <a:solidFill>
                      <a:srgbClr val="FFFFFF"/>
                    </a:solidFill>
                  </a:tcPr>
                </a:tc>
                <a:tc>
                  <a:txBody>
                    <a:bodyPr/>
                    <a:lstStyle/>
                    <a:p>
                      <a:pPr>
                        <a:defRPr sz="1500" b="0">
                          <a:solidFill>
                            <a:srgbClr val="24323E"/>
                          </a:solidFill>
                          <a:latin typeface="Aptos"/>
                        </a:defRPr>
                      </a:pPr>
                      <a:r>
                        <a:t>0.006</a:t>
                      </a:r>
                    </a:p>
                  </a:txBody>
                  <a:tcPr>
                    <a:solidFill>
                      <a:srgbClr val="FFFFFF"/>
                    </a:solidFill>
                  </a:tcPr>
                </a:tc>
              </a:tr>
              <a:tr h="401320">
                <a:tc>
                  <a:txBody>
                    <a:bodyPr/>
                    <a:lstStyle/>
                    <a:p>
                      <a:pPr>
                        <a:defRPr sz="1500" b="0">
                          <a:solidFill>
                            <a:srgbClr val="24323E"/>
                          </a:solidFill>
                          <a:latin typeface="Aptos"/>
                        </a:defRPr>
                      </a:pPr>
                      <a:r>
                        <a:t>arx</a:t>
                      </a:r>
                    </a:p>
                  </a:txBody>
                  <a:tcPr>
                    <a:solidFill>
                      <a:srgbClr val="E9F1F3"/>
                    </a:solidFill>
                  </a:tcPr>
                </a:tc>
                <a:tc>
                  <a:txBody>
                    <a:bodyPr/>
                    <a:lstStyle/>
                    <a:p>
                      <a:pPr>
                        <a:defRPr sz="1500" b="0">
                          <a:solidFill>
                            <a:srgbClr val="24323E"/>
                          </a:solidFill>
                          <a:latin typeface="Aptos"/>
                        </a:defRPr>
                      </a:pPr>
                      <a:r>
                        <a:t>256</a:t>
                      </a:r>
                    </a:p>
                  </a:txBody>
                  <a:tcPr>
                    <a:solidFill>
                      <a:srgbClr val="E9F1F3"/>
                    </a:solidFill>
                  </a:tcPr>
                </a:tc>
                <a:tc>
                  <a:txBody>
                    <a:bodyPr/>
                    <a:lstStyle/>
                    <a:p>
                      <a:pPr>
                        <a:defRPr sz="1500" b="0">
                          <a:solidFill>
                            <a:srgbClr val="24323E"/>
                          </a:solidFill>
                          <a:latin typeface="Aptos"/>
                        </a:defRPr>
                      </a:pPr>
                      <a:r>
                        <a:t>0.4278</a:t>
                      </a:r>
                    </a:p>
                  </a:txBody>
                  <a:tcPr>
                    <a:solidFill>
                      <a:srgbClr val="E9F1F3"/>
                    </a:solidFill>
                  </a:tcPr>
                </a:tc>
                <a:tc>
                  <a:txBody>
                    <a:bodyPr/>
                    <a:lstStyle/>
                    <a:p>
                      <a:pPr>
                        <a:defRPr sz="1500" b="0">
                          <a:solidFill>
                            <a:srgbClr val="24323E"/>
                          </a:solidFill>
                          <a:latin typeface="Aptos"/>
                        </a:defRPr>
                      </a:pPr>
                      <a:r>
                        <a:t>259</a:t>
                      </a:r>
                    </a:p>
                  </a:txBody>
                  <a:tcPr>
                    <a:solidFill>
                      <a:srgbClr val="E9F1F3"/>
                    </a:solidFill>
                  </a:tcPr>
                </a:tc>
                <a:tc>
                  <a:txBody>
                    <a:bodyPr/>
                    <a:lstStyle/>
                    <a:p>
                      <a:pPr>
                        <a:defRPr sz="1500" b="0">
                          <a:solidFill>
                            <a:srgbClr val="24323E"/>
                          </a:solidFill>
                          <a:latin typeface="Aptos"/>
                        </a:defRPr>
                      </a:pPr>
                      <a:r>
                        <a:t>0.064</a:t>
                      </a:r>
                    </a:p>
                  </a:txBody>
                  <a:tcPr>
                    <a:solidFill>
                      <a:srgbClr val="E9F1F3"/>
                    </a:solidFill>
                  </a:tcPr>
                </a:tc>
                <a:tc>
                  <a:txBody>
                    <a:bodyPr/>
                    <a:lstStyle/>
                    <a:p>
                      <a:pPr>
                        <a:defRPr sz="1500" b="0">
                          <a:solidFill>
                            <a:srgbClr val="24323E"/>
                          </a:solidFill>
                          <a:latin typeface="Aptos"/>
                        </a:defRPr>
                      </a:pPr>
                      <a:r>
                        <a:t>0.008</a:t>
                      </a:r>
                    </a:p>
                  </a:txBody>
                  <a:tcPr>
                    <a:solidFill>
                      <a:srgbClr val="E9F1F3"/>
                    </a:solidFill>
                  </a:tcPr>
                </a:tc>
              </a:tr>
              <a:tr h="401320">
                <a:tc>
                  <a:txBody>
                    <a:bodyPr/>
                    <a:lstStyle/>
                    <a:p>
                      <a:pPr>
                        <a:defRPr sz="1500" b="0">
                          <a:solidFill>
                            <a:srgbClr val="24323E"/>
                          </a:solidFill>
                          <a:latin typeface="Aptos"/>
                        </a:defRPr>
                      </a:pPr>
                      <a:r>
                        <a:t>mlp</a:t>
                      </a:r>
                    </a:p>
                  </a:txBody>
                  <a:tcPr>
                    <a:solidFill>
                      <a:srgbClr val="FFFFFF"/>
                    </a:solidFill>
                  </a:tcPr>
                </a:tc>
                <a:tc>
                  <a:txBody>
                    <a:bodyPr/>
                    <a:lstStyle/>
                    <a:p>
                      <a:pPr>
                        <a:defRPr sz="1500" b="0">
                          <a:solidFill>
                            <a:srgbClr val="24323E"/>
                          </a:solidFill>
                          <a:latin typeface="Aptos"/>
                        </a:defRPr>
                      </a:pPr>
                      <a:r>
                        <a:t>64</a:t>
                      </a:r>
                    </a:p>
                  </a:txBody>
                  <a:tcPr>
                    <a:solidFill>
                      <a:srgbClr val="FFFFFF"/>
                    </a:solidFill>
                  </a:tcPr>
                </a:tc>
                <a:tc>
                  <a:txBody>
                    <a:bodyPr/>
                    <a:lstStyle/>
                    <a:p>
                      <a:pPr>
                        <a:defRPr sz="1500" b="0">
                          <a:solidFill>
                            <a:srgbClr val="24323E"/>
                          </a:solidFill>
                          <a:latin typeface="Aptos"/>
                        </a:defRPr>
                      </a:pPr>
                      <a:r>
                        <a:t>0.4505</a:t>
                      </a:r>
                    </a:p>
                  </a:txBody>
                  <a:tcPr>
                    <a:solidFill>
                      <a:srgbClr val="FFFFFF"/>
                    </a:solidFill>
                  </a:tcPr>
                </a:tc>
                <a:tc>
                  <a:txBody>
                    <a:bodyPr/>
                    <a:lstStyle/>
                    <a:p>
                      <a:pPr>
                        <a:defRPr sz="1500" b="0">
                          <a:solidFill>
                            <a:srgbClr val="24323E"/>
                          </a:solidFill>
                          <a:latin typeface="Aptos"/>
                        </a:defRPr>
                      </a:pPr>
                      <a:r>
                        <a:t>2113</a:t>
                      </a:r>
                    </a:p>
                  </a:txBody>
                  <a:tcPr>
                    <a:solidFill>
                      <a:srgbClr val="FFFFFF"/>
                    </a:solidFill>
                  </a:tcPr>
                </a:tc>
                <a:tc>
                  <a:txBody>
                    <a:bodyPr/>
                    <a:lstStyle/>
                    <a:p>
                      <a:pPr>
                        <a:defRPr sz="1500" b="0">
                          <a:solidFill>
                            <a:srgbClr val="24323E"/>
                          </a:solidFill>
                          <a:latin typeface="Aptos"/>
                        </a:defRPr>
                      </a:pPr>
                      <a:r>
                        <a:t>1.490</a:t>
                      </a:r>
                    </a:p>
                  </a:txBody>
                  <a:tcPr>
                    <a:solidFill>
                      <a:srgbClr val="FFFFFF"/>
                    </a:solidFill>
                  </a:tcPr>
                </a:tc>
                <a:tc>
                  <a:txBody>
                    <a:bodyPr/>
                    <a:lstStyle/>
                    <a:p>
                      <a:pPr>
                        <a:defRPr sz="1500" b="0">
                          <a:solidFill>
                            <a:srgbClr val="24323E"/>
                          </a:solidFill>
                          <a:latin typeface="Aptos"/>
                        </a:defRPr>
                      </a:pPr>
                      <a:r>
                        <a:t>0.007</a:t>
                      </a:r>
                    </a:p>
                  </a:txBody>
                  <a:tcPr>
                    <a:solidFill>
                      <a:srgbClr val="FFFFFF"/>
                    </a:solidFill>
                  </a:tcPr>
                </a:tc>
              </a:tr>
              <a:tr h="401320">
                <a:tc>
                  <a:txBody>
                    <a:bodyPr/>
                    <a:lstStyle/>
                    <a:p>
                      <a:pPr>
                        <a:defRPr sz="1500" b="0">
                          <a:solidFill>
                            <a:srgbClr val="24323E"/>
                          </a:solidFill>
                          <a:latin typeface="Aptos"/>
                        </a:defRPr>
                      </a:pPr>
                      <a:r>
                        <a:t>tcn</a:t>
                      </a:r>
                    </a:p>
                  </a:txBody>
                  <a:tcPr>
                    <a:solidFill>
                      <a:srgbClr val="E9F1F3"/>
                    </a:solidFill>
                  </a:tcPr>
                </a:tc>
                <a:tc>
                  <a:txBody>
                    <a:bodyPr/>
                    <a:lstStyle/>
                    <a:p>
                      <a:pPr>
                        <a:defRPr sz="1500" b="0">
                          <a:solidFill>
                            <a:srgbClr val="24323E"/>
                          </a:solidFill>
                          <a:latin typeface="Aptos"/>
                        </a:defRPr>
                      </a:pPr>
                      <a:r>
                        <a:t>128</a:t>
                      </a:r>
                    </a:p>
                  </a:txBody>
                  <a:tcPr>
                    <a:solidFill>
                      <a:srgbClr val="E9F1F3"/>
                    </a:solidFill>
                  </a:tcPr>
                </a:tc>
                <a:tc>
                  <a:txBody>
                    <a:bodyPr/>
                    <a:lstStyle/>
                    <a:p>
                      <a:pPr>
                        <a:defRPr sz="1500" b="0">
                          <a:solidFill>
                            <a:srgbClr val="24323E"/>
                          </a:solidFill>
                          <a:latin typeface="Aptos"/>
                        </a:defRPr>
                      </a:pPr>
                      <a:r>
                        <a:t>0.4545</a:t>
                      </a:r>
                    </a:p>
                  </a:txBody>
                  <a:tcPr>
                    <a:solidFill>
                      <a:srgbClr val="E9F1F3"/>
                    </a:solidFill>
                  </a:tcPr>
                </a:tc>
                <a:tc>
                  <a:txBody>
                    <a:bodyPr/>
                    <a:lstStyle/>
                    <a:p>
                      <a:pPr>
                        <a:defRPr sz="1500" b="0">
                          <a:solidFill>
                            <a:srgbClr val="24323E"/>
                          </a:solidFill>
                          <a:latin typeface="Aptos"/>
                        </a:defRPr>
                      </a:pPr>
                      <a:r>
                        <a:t>2425</a:t>
                      </a:r>
                    </a:p>
                  </a:txBody>
                  <a:tcPr>
                    <a:solidFill>
                      <a:srgbClr val="E9F1F3"/>
                    </a:solidFill>
                  </a:tcPr>
                </a:tc>
                <a:tc>
                  <a:txBody>
                    <a:bodyPr/>
                    <a:lstStyle/>
                    <a:p>
                      <a:pPr>
                        <a:defRPr sz="1500" b="0">
                          <a:solidFill>
                            <a:srgbClr val="24323E"/>
                          </a:solidFill>
                          <a:latin typeface="Aptos"/>
                        </a:defRPr>
                      </a:pPr>
                      <a:r>
                        <a:t>26.812</a:t>
                      </a:r>
                    </a:p>
                  </a:txBody>
                  <a:tcPr>
                    <a:solidFill>
                      <a:srgbClr val="E9F1F3"/>
                    </a:solidFill>
                  </a:tcPr>
                </a:tc>
                <a:tc>
                  <a:txBody>
                    <a:bodyPr/>
                    <a:lstStyle/>
                    <a:p>
                      <a:pPr>
                        <a:defRPr sz="1500" b="0">
                          <a:solidFill>
                            <a:srgbClr val="24323E"/>
                          </a:solidFill>
                          <a:latin typeface="Aptos"/>
                        </a:defRPr>
                      </a:pPr>
                      <a:r>
                        <a:t>0.536</a:t>
                      </a:r>
                    </a:p>
                  </a:txBody>
                  <a:tcPr>
                    <a:solidFill>
                      <a:srgbClr val="E9F1F3"/>
                    </a:solidFill>
                  </a:tcPr>
                </a:tc>
              </a:tr>
              <a:tr h="401320">
                <a:tc>
                  <a:txBody>
                    <a:bodyPr/>
                    <a:lstStyle/>
                    <a:p>
                      <a:pPr>
                        <a:defRPr sz="1500" b="0">
                          <a:solidFill>
                            <a:srgbClr val="24323E"/>
                          </a:solidFill>
                          <a:latin typeface="Aptos"/>
                        </a:defRPr>
                      </a:pPr>
                      <a:r>
                        <a:t>speed_tcn</a:t>
                      </a:r>
                    </a:p>
                  </a:txBody>
                  <a:tcPr>
                    <a:solidFill>
                      <a:srgbClr val="FFFFFF"/>
                    </a:solidFill>
                  </a:tcPr>
                </a:tc>
                <a:tc>
                  <a:txBody>
                    <a:bodyPr/>
                    <a:lstStyle/>
                    <a:p>
                      <a:pPr>
                        <a:defRPr sz="1500" b="0">
                          <a:solidFill>
                            <a:srgbClr val="24323E"/>
                          </a:solidFill>
                          <a:latin typeface="Aptos"/>
                        </a:defRPr>
                      </a:pPr>
                      <a:r>
                        <a:t>128</a:t>
                      </a:r>
                    </a:p>
                  </a:txBody>
                  <a:tcPr>
                    <a:solidFill>
                      <a:srgbClr val="FFFFFF"/>
                    </a:solidFill>
                  </a:tcPr>
                </a:tc>
                <a:tc>
                  <a:txBody>
                    <a:bodyPr/>
                    <a:lstStyle/>
                    <a:p>
                      <a:pPr>
                        <a:defRPr sz="1500" b="0">
                          <a:solidFill>
                            <a:srgbClr val="24323E"/>
                          </a:solidFill>
                          <a:latin typeface="Aptos"/>
                        </a:defRPr>
                      </a:pPr>
                      <a:r>
                        <a:t>0.4582</a:t>
                      </a:r>
                    </a:p>
                  </a:txBody>
                  <a:tcPr>
                    <a:solidFill>
                      <a:srgbClr val="FFFFFF"/>
                    </a:solidFill>
                  </a:tcPr>
                </a:tc>
                <a:tc>
                  <a:txBody>
                    <a:bodyPr/>
                    <a:lstStyle/>
                    <a:p>
                      <a:pPr>
                        <a:defRPr sz="1500" b="0">
                          <a:solidFill>
                            <a:srgbClr val="24323E"/>
                          </a:solidFill>
                          <a:latin typeface="Aptos"/>
                        </a:defRPr>
                      </a:pPr>
                      <a:r>
                        <a:t>2617</a:t>
                      </a:r>
                    </a:p>
                  </a:txBody>
                  <a:tcPr>
                    <a:solidFill>
                      <a:srgbClr val="FFFFFF"/>
                    </a:solidFill>
                  </a:tcPr>
                </a:tc>
                <a:tc>
                  <a:txBody>
                    <a:bodyPr/>
                    <a:lstStyle/>
                    <a:p>
                      <a:pPr>
                        <a:defRPr sz="1500" b="0">
                          <a:solidFill>
                            <a:srgbClr val="24323E"/>
                          </a:solidFill>
                          <a:latin typeface="Aptos"/>
                        </a:defRPr>
                      </a:pPr>
                      <a:r>
                        <a:t>52.985</a:t>
                      </a:r>
                    </a:p>
                  </a:txBody>
                  <a:tcPr>
                    <a:solidFill>
                      <a:srgbClr val="FFFFFF"/>
                    </a:solidFill>
                  </a:tcPr>
                </a:tc>
                <a:tc>
                  <a:txBody>
                    <a:bodyPr/>
                    <a:lstStyle/>
                    <a:p>
                      <a:pPr>
                        <a:defRPr sz="1500" b="0">
                          <a:solidFill>
                            <a:srgbClr val="24323E"/>
                          </a:solidFill>
                          <a:latin typeface="Aptos"/>
                        </a:defRPr>
                      </a:pPr>
                      <a:r>
                        <a:t>1.260</a:t>
                      </a:r>
                    </a:p>
                  </a:txBody>
                  <a:tcPr>
                    <a:solidFill>
                      <a:srgbClr val="FFFFFF"/>
                    </a:solidFill>
                  </a:tcPr>
                </a:tc>
              </a:tr>
              <a:tr h="401320">
                <a:tc>
                  <a:txBody>
                    <a:bodyPr/>
                    <a:lstStyle/>
                    <a:p>
                      <a:pPr>
                        <a:defRPr sz="1500" b="0">
                          <a:solidFill>
                            <a:srgbClr val="24323E"/>
                          </a:solidFill>
                          <a:latin typeface="Aptos"/>
                        </a:defRPr>
                      </a:pPr>
                      <a:r>
                        <a:t>late_tcn</a:t>
                      </a:r>
                    </a:p>
                  </a:txBody>
                  <a:tcPr>
                    <a:solidFill>
                      <a:srgbClr val="E9F1F3"/>
                    </a:solidFill>
                  </a:tcPr>
                </a:tc>
                <a:tc>
                  <a:txBody>
                    <a:bodyPr/>
                    <a:lstStyle/>
                    <a:p>
                      <a:pPr>
                        <a:defRPr sz="1500" b="0">
                          <a:solidFill>
                            <a:srgbClr val="24323E"/>
                          </a:solidFill>
                          <a:latin typeface="Aptos"/>
                        </a:defRPr>
                      </a:pPr>
                      <a:r>
                        <a:t>64</a:t>
                      </a:r>
                    </a:p>
                  </a:txBody>
                  <a:tcPr>
                    <a:solidFill>
                      <a:srgbClr val="E9F1F3"/>
                    </a:solidFill>
                  </a:tcPr>
                </a:tc>
                <a:tc>
                  <a:txBody>
                    <a:bodyPr/>
                    <a:lstStyle/>
                    <a:p>
                      <a:pPr>
                        <a:defRPr sz="1500" b="0">
                          <a:solidFill>
                            <a:srgbClr val="24323E"/>
                          </a:solidFill>
                          <a:latin typeface="Aptos"/>
                        </a:defRPr>
                      </a:pPr>
                      <a:r>
                        <a:t>0.4633</a:t>
                      </a:r>
                    </a:p>
                  </a:txBody>
                  <a:tcPr>
                    <a:solidFill>
                      <a:srgbClr val="E9F1F3"/>
                    </a:solidFill>
                  </a:tcPr>
                </a:tc>
                <a:tc>
                  <a:txBody>
                    <a:bodyPr/>
                    <a:lstStyle/>
                    <a:p>
                      <a:pPr>
                        <a:defRPr sz="1500" b="0">
                          <a:solidFill>
                            <a:srgbClr val="24323E"/>
                          </a:solidFill>
                          <a:latin typeface="Aptos"/>
                        </a:defRPr>
                      </a:pPr>
                      <a:r>
                        <a:t>2026</a:t>
                      </a:r>
                    </a:p>
                  </a:txBody>
                  <a:tcPr>
                    <a:solidFill>
                      <a:srgbClr val="E9F1F3"/>
                    </a:solidFill>
                  </a:tcPr>
                </a:tc>
                <a:tc>
                  <a:txBody>
                    <a:bodyPr/>
                    <a:lstStyle/>
                    <a:p>
                      <a:pPr>
                        <a:defRPr sz="1500" b="0">
                          <a:solidFill>
                            <a:srgbClr val="24323E"/>
                          </a:solidFill>
                          <a:latin typeface="Aptos"/>
                        </a:defRPr>
                      </a:pPr>
                      <a:r>
                        <a:t>19.411</a:t>
                      </a:r>
                    </a:p>
                  </a:txBody>
                  <a:tcPr>
                    <a:solidFill>
                      <a:srgbClr val="E9F1F3"/>
                    </a:solidFill>
                  </a:tcPr>
                </a:tc>
                <a:tc>
                  <a:txBody>
                    <a:bodyPr/>
                    <a:lstStyle/>
                    <a:p>
                      <a:pPr>
                        <a:defRPr sz="1500" b="0">
                          <a:solidFill>
                            <a:srgbClr val="24323E"/>
                          </a:solidFill>
                          <a:latin typeface="Aptos"/>
                        </a:defRPr>
                      </a:pPr>
                      <a:r>
                        <a:t>0.413</a:t>
                      </a:r>
                    </a:p>
                  </a:txBody>
                  <a:tcPr>
                    <a:solidFill>
                      <a:srgbClr val="E9F1F3"/>
                    </a:solidFill>
                  </a:tcPr>
                </a:tc>
              </a:tr>
            </a:tbl>
          </a:graphicData>
        </a:graphic>
      </p:graphicFrame>
      <p:sp>
        <p:nvSpPr>
          <p:cNvPr id="8" name="TextBox 7"/>
          <p:cNvSpPr txBox="1"/>
          <p:nvPr/>
        </p:nvSpPr>
        <p:spPr>
          <a:xfrm>
            <a:off x="640080" y="5623560"/>
            <a:ext cx="10789920" cy="594360"/>
          </a:xfrm>
          <a:prstGeom prst="rect">
            <a:avLst/>
          </a:prstGeom>
          <a:noFill/>
        </p:spPr>
        <p:txBody>
          <a:bodyPr wrap="square" lIns="27432" rIns="27432" tIns="27432" bIns="27432">
            <a:spAutoFit/>
          </a:bodyPr>
          <a:lstStyle/>
          <a:p>
            <a:pPr>
              <a:spcAft>
                <a:spcPts val="1100"/>
              </a:spcAft>
              <a:defRPr sz="1500" b="0">
                <a:solidFill>
                  <a:srgbClr val="5B6C7C"/>
                </a:solidFill>
                <a:latin typeface="Aptos"/>
              </a:defRPr>
            </a:pPr>
            <a:r>
              <a:t>Best observed configuration per family; validation-selected. Timing includes checkpoint load, window construction and scoring. Full CSV retains every run.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Accuracy has a computational cost</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CPU-only, measured public inference path; GPU benchmarks not run</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8</a:t>
            </a:r>
          </a:p>
        </p:txBody>
      </p:sp>
      <p:pic>
        <p:nvPicPr>
          <p:cNvPr id="7" name="Picture 6" descr="efficiency.png"/>
          <p:cNvPicPr>
            <a:picLocks noChangeAspect="1"/>
          </p:cNvPicPr>
          <p:nvPr/>
        </p:nvPicPr>
        <p:blipFill>
          <a:blip r:embed="rId2"/>
          <a:stretch>
            <a:fillRect/>
          </a:stretch>
        </p:blipFill>
        <p:spPr>
          <a:xfrm>
            <a:off x="566928" y="1691640"/>
            <a:ext cx="6953100" cy="4160520"/>
          </a:xfrm>
          <a:prstGeom prst="rect">
            <a:avLst/>
          </a:prstGeom>
        </p:spPr>
      </p:pic>
      <p:sp>
        <p:nvSpPr>
          <p:cNvPr id="8" name="TextBox 7"/>
          <p:cNvSpPr txBox="1"/>
          <p:nvPr/>
        </p:nvSpPr>
        <p:spPr>
          <a:xfrm>
            <a:off x="594360" y="5943600"/>
            <a:ext cx="10972800" cy="411480"/>
          </a:xfrm>
          <a:prstGeom prst="rect">
            <a:avLst/>
          </a:prstGeom>
          <a:noFill/>
        </p:spPr>
        <p:txBody>
          <a:bodyPr wrap="square" lIns="27432" rIns="27432" tIns="27432" bIns="27432">
            <a:spAutoFit/>
          </a:bodyPr>
          <a:lstStyle/>
          <a:p>
            <a:pPr>
              <a:spcAft>
                <a:spcPts val="1100"/>
              </a:spcAft>
              <a:defRPr sz="1100" b="0">
                <a:solidFill>
                  <a:srgbClr val="5B6C7C"/>
                </a:solidFill>
                <a:latin typeface="Aptos"/>
              </a:defRPr>
            </a:pPr>
            <a:r>
              <a:t>Measured CPU wall time; details: reports/timing_and_hardware.md; no GPU measurements.</a:t>
            </a:r>
          </a:p>
        </p:txBody>
      </p:sp>
      <p:sp>
        <p:nvSpPr>
          <p:cNvPr id="9" name="TextBox 8"/>
          <p:cNvSpPr txBox="1"/>
          <p:nvPr/>
        </p:nvSpPr>
        <p:spPr>
          <a:xfrm>
            <a:off x="8641080" y="1828800"/>
            <a:ext cx="3017520" cy="4023360"/>
          </a:xfrm>
          <a:prstGeom prst="rect">
            <a:avLst/>
          </a:prstGeom>
          <a:noFill/>
        </p:spPr>
        <p:txBody>
          <a:bodyPr wrap="square" lIns="27432" rIns="27432" tIns="27432" bIns="27432">
            <a:spAutoFit/>
          </a:bodyPr>
          <a:lstStyle/>
          <a:p>
            <a:pPr>
              <a:spcAft>
                <a:spcPts val="1100"/>
              </a:spcAft>
              <a:defRPr sz="1800" b="0">
                <a:solidFill>
                  <a:srgbClr val="24323E"/>
                </a:solidFill>
                <a:latin typeface="Aptos"/>
              </a:defRPr>
            </a:pPr>
            <a:r>
              <a:t>• Best model fit: 0.766 s</a:t>
            </a:r>
          </a:p>
          <a:p>
            <a:pPr>
              <a:spcAft>
                <a:spcPts val="1100"/>
              </a:spcAft>
              <a:defRPr sz="1800" b="0">
                <a:solidFill>
                  <a:srgbClr val="24323E"/>
                </a:solidFill>
                <a:latin typeface="Aptos"/>
              </a:defRPr>
            </a:pPr>
            <a:r>
              <a:t>• Best model record path: 0.123 s</a:t>
            </a:r>
          </a:p>
          <a:p>
            <a:pPr>
              <a:spcAft>
                <a:spcPts val="1100"/>
              </a:spcAft>
              <a:defRPr sz="1800" b="0">
                <a:solidFill>
                  <a:srgbClr val="24323E"/>
                </a:solidFill>
                <a:latin typeface="Aptos"/>
              </a:defRPr>
            </a:pPr>
            <a:r>
              <a:t>• Ridge AR(256): 0.0066 s / record</a:t>
            </a:r>
          </a:p>
          <a:p>
            <a:pPr>
              <a:spcAft>
                <a:spcPts val="1100"/>
              </a:spcAft>
              <a:defRPr sz="1800" b="0">
                <a:solidFill>
                  <a:srgbClr val="24323E"/>
                </a:solidFill>
                <a:latin typeface="Aptos"/>
              </a:defRPr>
            </a:pPr>
            <a:r>
              <a:t>• Includes checkpoint load + windows; 3 repeats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Does conditioning help consistently?</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Context, seed and capacity controls; do not select only favorable seeds</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9</a:t>
            </a:r>
          </a:p>
        </p:txBody>
      </p:sp>
      <p:pic>
        <p:nvPicPr>
          <p:cNvPr id="7" name="Picture 6" descr="ablations.png"/>
          <p:cNvPicPr>
            <a:picLocks noChangeAspect="1"/>
          </p:cNvPicPr>
          <p:nvPr/>
        </p:nvPicPr>
        <p:blipFill>
          <a:blip r:embed="rId2"/>
          <a:stretch>
            <a:fillRect/>
          </a:stretch>
        </p:blipFill>
        <p:spPr>
          <a:xfrm>
            <a:off x="566928" y="1691640"/>
            <a:ext cx="7863840" cy="3170201"/>
          </a:xfrm>
          <a:prstGeom prst="rect">
            <a:avLst/>
          </a:prstGeom>
        </p:spPr>
      </p:pic>
      <p:sp>
        <p:nvSpPr>
          <p:cNvPr id="8" name="TextBox 7"/>
          <p:cNvSpPr txBox="1"/>
          <p:nvPr/>
        </p:nvSpPr>
        <p:spPr>
          <a:xfrm>
            <a:off x="594360" y="5943600"/>
            <a:ext cx="10972800" cy="411480"/>
          </a:xfrm>
          <a:prstGeom prst="rect">
            <a:avLst/>
          </a:prstGeom>
          <a:noFill/>
        </p:spPr>
        <p:txBody>
          <a:bodyPr wrap="square" lIns="27432" rIns="27432" tIns="27432" bIns="27432">
            <a:spAutoFit/>
          </a:bodyPr>
          <a:lstStyle/>
          <a:p>
            <a:pPr>
              <a:spcAft>
                <a:spcPts val="1100"/>
              </a:spcAft>
              <a:defRPr sz="1100" b="0">
                <a:solidFill>
                  <a:srgbClr val="5B6C7C"/>
                </a:solidFill>
                <a:latin typeface="Aptos"/>
              </a:defRPr>
            </a:pPr>
            <a:r>
              <a:t>Same validation targets for every context; points are initialization repeats, not independent recordings.</a:t>
            </a:r>
          </a:p>
        </p:txBody>
      </p:sp>
      <p:sp>
        <p:nvSpPr>
          <p:cNvPr id="9" name="TextBox 8"/>
          <p:cNvSpPr txBox="1"/>
          <p:nvPr/>
        </p:nvSpPr>
        <p:spPr>
          <a:xfrm>
            <a:off x="8641080" y="1828800"/>
            <a:ext cx="3017520" cy="4023360"/>
          </a:xfrm>
          <a:prstGeom prst="rect">
            <a:avLst/>
          </a:prstGeom>
          <a:noFill/>
        </p:spPr>
        <p:txBody>
          <a:bodyPr wrap="square" lIns="27432" rIns="27432" tIns="27432" bIns="27432">
            <a:spAutoFit/>
          </a:bodyPr>
          <a:lstStyle/>
          <a:p>
            <a:pPr>
              <a:spcAft>
                <a:spcPts val="1100"/>
              </a:spcAft>
              <a:defRPr sz="1800" b="0">
                <a:solidFill>
                  <a:srgbClr val="24323E"/>
                </a:solidFill>
                <a:latin typeface="Aptos"/>
              </a:defRPr>
            </a:pPr>
            <a:r>
              <a:t>• speed_tcn: 0.4792 ± 0.0180 (3 seeds); tcn: 0.4703 ± 0.0125 (3 seeds)</a:t>
            </a:r>
          </a:p>
          <a:p>
            <a:pPr>
              <a:spcAft>
                <a:spcPts val="1100"/>
              </a:spcAft>
              <a:defRPr sz="1800" b="0">
                <a:solidFill>
                  <a:srgbClr val="24323E"/>
                </a:solidFill>
                <a:latin typeface="Aptos"/>
              </a:defRPr>
            </a:pPr>
            <a:r>
              <a:t>• FiLM mean MSE: 1.90% higher</a:t>
            </a:r>
          </a:p>
          <a:p>
            <a:pPr>
              <a:spcAft>
                <a:spcPts val="1100"/>
              </a:spcAft>
              <a:defRPr sz="1800" b="0">
                <a:solidFill>
                  <a:srgbClr val="24323E"/>
                </a:solidFill>
                <a:latin typeface="Aptos"/>
              </a:defRPr>
            </a:pPr>
            <a:r>
              <a:t>• Full controls: model_ablation.csv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A residual does not prove a defect</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Prediction accuracy and diagnostic utility are distinct objectives</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10</a:t>
            </a:r>
          </a:p>
        </p:txBody>
      </p:sp>
      <p:pic>
        <p:nvPicPr>
          <p:cNvPr id="7" name="Picture 6" descr="fault_rms_trends.png"/>
          <p:cNvPicPr>
            <a:picLocks noChangeAspect="1"/>
          </p:cNvPicPr>
          <p:nvPr/>
        </p:nvPicPr>
        <p:blipFill>
          <a:blip r:embed="rId2"/>
          <a:stretch>
            <a:fillRect/>
          </a:stretch>
        </p:blipFill>
        <p:spPr>
          <a:xfrm>
            <a:off x="566928" y="1691640"/>
            <a:ext cx="7010399" cy="4206240"/>
          </a:xfrm>
          <a:prstGeom prst="rect">
            <a:avLst/>
          </a:prstGeom>
        </p:spPr>
      </p:pic>
      <p:sp>
        <p:nvSpPr>
          <p:cNvPr id="8" name="TextBox 7"/>
          <p:cNvSpPr txBox="1"/>
          <p:nvPr/>
        </p:nvSpPr>
        <p:spPr>
          <a:xfrm>
            <a:off x="594360" y="5943600"/>
            <a:ext cx="10972800" cy="411480"/>
          </a:xfrm>
          <a:prstGeom prst="rect">
            <a:avLst/>
          </a:prstGeom>
          <a:noFill/>
        </p:spPr>
        <p:txBody>
          <a:bodyPr wrap="square" lIns="27432" rIns="27432" tIns="27432" bIns="27432">
            <a:spAutoFit/>
          </a:bodyPr>
          <a:lstStyle/>
          <a:p>
            <a:pPr>
              <a:spcAft>
                <a:spcPts val="1100"/>
              </a:spcAft>
              <a:defRPr sz="1100" b="0">
                <a:solidFill>
                  <a:srgbClr val="5B6C7C"/>
                </a:solidFill>
                <a:latin typeface="Aptos"/>
              </a:defRPr>
            </a:pPr>
            <a:r>
              <a:t>200 separate candidate records; equal 31,744-sample segments; dimensionless x/residual.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PMI and angular resampling need assumptions</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Explicit speed units; literal versus corrected MATLAB indexing</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11</a:t>
            </a:r>
          </a:p>
        </p:txBody>
      </p:sp>
      <p:pic>
        <p:nvPicPr>
          <p:cNvPr id="7" name="Picture 6" descr="fault_unit_sensitivity.png"/>
          <p:cNvPicPr>
            <a:picLocks noChangeAspect="1"/>
          </p:cNvPicPr>
          <p:nvPr/>
        </p:nvPicPr>
        <p:blipFill>
          <a:blip r:embed="rId2"/>
          <a:stretch>
            <a:fillRect/>
          </a:stretch>
        </p:blipFill>
        <p:spPr>
          <a:xfrm>
            <a:off x="566928" y="1691640"/>
            <a:ext cx="8412480" cy="4206240"/>
          </a:xfrm>
          <a:prstGeom prst="rect">
            <a:avLst/>
          </a:prstGeom>
        </p:spPr>
      </p:pic>
      <p:sp>
        <p:nvSpPr>
          <p:cNvPr id="8" name="TextBox 7"/>
          <p:cNvSpPr txBox="1"/>
          <p:nvPr/>
        </p:nvSpPr>
        <p:spPr>
          <a:xfrm>
            <a:off x="594360" y="5943600"/>
            <a:ext cx="10972800" cy="411480"/>
          </a:xfrm>
          <a:prstGeom prst="rect">
            <a:avLst/>
          </a:prstGeom>
          <a:noFill/>
        </p:spPr>
        <p:txBody>
          <a:bodyPr wrap="square" lIns="27432" rIns="27432" tIns="27432" bIns="27432">
            <a:spAutoFit/>
          </a:bodyPr>
          <a:lstStyle/>
          <a:p>
            <a:pPr>
              <a:spcAft>
                <a:spcPts val="1100"/>
              </a:spcAft>
              <a:defRPr sz="1100" b="0">
                <a:solidFill>
                  <a:srgbClr val="5B6C7C"/>
                </a:solidFill>
                <a:latin typeface="Aptos"/>
              </a:defRPr>
            </a:pPr>
            <a:r>
              <a:t>Actual fault-candidate descriptors; speed units / order are assumptions. Literal PMI lag T−1; corrected 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Unlabeled records: measured descriptors</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Record-wise raw/residual features; no invented health classes</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12</a:t>
            </a:r>
          </a:p>
        </p:txBody>
      </p:sp>
      <p:pic>
        <p:nvPicPr>
          <p:cNvPr id="7" name="Picture 6" descr="fault_indicator_distributions.png"/>
          <p:cNvPicPr>
            <a:picLocks noChangeAspect="1"/>
          </p:cNvPicPr>
          <p:nvPr/>
        </p:nvPicPr>
        <p:blipFill>
          <a:blip r:embed="rId2"/>
          <a:stretch>
            <a:fillRect/>
          </a:stretch>
        </p:blipFill>
        <p:spPr>
          <a:xfrm>
            <a:off x="566928" y="1691640"/>
            <a:ext cx="10881360" cy="3348110"/>
          </a:xfrm>
          <a:prstGeom prst="rect">
            <a:avLst/>
          </a:prstGeom>
        </p:spPr>
      </p:pic>
      <p:sp>
        <p:nvSpPr>
          <p:cNvPr id="8" name="TextBox 7"/>
          <p:cNvSpPr txBox="1"/>
          <p:nvPr/>
        </p:nvSpPr>
        <p:spPr>
          <a:xfrm>
            <a:off x="594360" y="5943600"/>
            <a:ext cx="10972800" cy="411480"/>
          </a:xfrm>
          <a:prstGeom prst="rect">
            <a:avLst/>
          </a:prstGeom>
          <a:noFill/>
        </p:spPr>
        <p:txBody>
          <a:bodyPr wrap="square" lIns="27432" rIns="27432" tIns="27432" bIns="27432">
            <a:spAutoFit/>
          </a:bodyPr>
          <a:lstStyle/>
          <a:p>
            <a:pPr>
              <a:spcAft>
                <a:spcPts val="1100"/>
              </a:spcAft>
              <a:defRPr sz="1100" b="0">
                <a:solidFill>
                  <a:srgbClr val="5B6C7C"/>
                </a:solidFill>
                <a:latin typeface="Aptos"/>
              </a:defRPr>
            </a:pPr>
            <a:r>
              <a:t>Actual record-wise distributions; no verified classes. RMS / kurtosis / CK / PMI describe signals, not fault accuracy.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Limits of inference</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Validation selection, one trace, repeated speed trajectory, unknown labels</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13</a:t>
            </a:r>
          </a:p>
        </p:txBody>
      </p:sp>
      <p:sp>
        <p:nvSpPr>
          <p:cNvPr id="7" name="TextBox 6"/>
          <p:cNvSpPr txBox="1"/>
          <p:nvPr/>
        </p:nvSpPr>
        <p:spPr>
          <a:xfrm>
            <a:off x="594360" y="1783080"/>
            <a:ext cx="10972800" cy="4389120"/>
          </a:xfrm>
          <a:prstGeom prst="rect">
            <a:avLst/>
          </a:prstGeom>
          <a:noFill/>
        </p:spPr>
        <p:txBody>
          <a:bodyPr wrap="square" lIns="27432" rIns="27432" tIns="27432" bIns="27432">
            <a:spAutoFit/>
          </a:bodyPr>
          <a:lstStyle/>
          <a:p>
            <a:pPr>
              <a:spcAft>
                <a:spcPts val="1100"/>
              </a:spcAft>
              <a:defRPr sz="2200" b="0">
                <a:solidFill>
                  <a:srgbClr val="24323E"/>
                </a:solidFill>
                <a:latin typeface="Aptos"/>
              </a:defRPr>
            </a:pPr>
            <a:r>
              <a:t>• Only one short validation recording, reused for epoch/model selection</a:t>
            </a:r>
          </a:p>
          <a:p>
            <a:pPr>
              <a:spcAft>
                <a:spcPts val="1100"/>
              </a:spcAft>
              <a:defRPr sz="2200" b="0">
                <a:solidFill>
                  <a:srgbClr val="24323E"/>
                </a:solidFill>
                <a:latin typeface="Aptos"/>
              </a:defRPr>
            </a:pPr>
            <a:r>
              <a:t>• Speed trajectories are almost identical: unseen-speed transfer untested</a:t>
            </a:r>
          </a:p>
          <a:p>
            <a:pPr>
              <a:spcAft>
                <a:spcPts val="1100"/>
              </a:spcAft>
              <a:defRPr sz="2200" b="0">
                <a:solidFill>
                  <a:srgbClr val="24323E"/>
                </a:solidFill>
                <a:latin typeface="Aptos"/>
              </a:defRPr>
            </a:pPr>
            <a:r>
              <a:t>• Short neural training budget; rankings are budget-specific</a:t>
            </a:r>
          </a:p>
          <a:p>
            <a:pPr>
              <a:spcAft>
                <a:spcPts val="1100"/>
              </a:spcAft>
              <a:defRPr sz="2200" b="0">
                <a:solidFill>
                  <a:srgbClr val="24323E"/>
                </a:solidFill>
                <a:latin typeface="Aptos"/>
              </a:defRPr>
            </a:pPr>
            <a:r>
              <a:t>• Physical speed unit / health labels unverified; patterns remain descriptive</a:t>
            </a:r>
          </a:p>
          <a:p>
            <a:pPr>
              <a:spcAft>
                <a:spcPts val="1100"/>
              </a:spcAft>
              <a:defRPr sz="2200" b="0">
                <a:solidFill>
                  <a:srgbClr val="24323E"/>
                </a:solidFill>
                <a:latin typeface="Aptos"/>
              </a:defRPr>
            </a:pPr>
            <a:r>
              <a:t>• Spa LPV-ARMA exact comparison unavailable; final dates conflict in the PDF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What the evidence supports</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Recommend using the measured table; validate on independent records next</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14</a:t>
            </a:r>
          </a:p>
        </p:txBody>
      </p:sp>
      <p:sp>
        <p:nvSpPr>
          <p:cNvPr id="7" name="TextBox 6"/>
          <p:cNvSpPr txBox="1"/>
          <p:nvPr/>
        </p:nvSpPr>
        <p:spPr>
          <a:xfrm>
            <a:off x="594360" y="1783080"/>
            <a:ext cx="10972800" cy="4389120"/>
          </a:xfrm>
          <a:prstGeom prst="rect">
            <a:avLst/>
          </a:prstGeom>
          <a:noFill/>
        </p:spPr>
        <p:txBody>
          <a:bodyPr wrap="square" lIns="27432" rIns="27432" tIns="27432" bIns="27432">
            <a:spAutoFit/>
          </a:bodyPr>
          <a:lstStyle/>
          <a:p>
            <a:pPr>
              <a:spcAft>
                <a:spcPts val="1100"/>
              </a:spcAft>
              <a:defRPr sz="2200" b="0">
                <a:solidFill>
                  <a:srgbClr val="24323E"/>
                </a:solidFill>
                <a:latin typeface="Aptos"/>
              </a:defRPr>
            </a:pPr>
            <a:r>
              <a:t>• Measured best: lpv_L256_s17_a1, validation MSE 0.3612</a:t>
            </a:r>
          </a:p>
          <a:p>
            <a:pPr>
              <a:spcAft>
                <a:spcPts val="1100"/>
              </a:spcAft>
              <a:defRPr sz="2200" b="0">
                <a:solidFill>
                  <a:srgbClr val="24323E"/>
                </a:solidFill>
                <a:latin typeface="Aptos"/>
              </a:defRPr>
            </a:pPr>
            <a:r>
              <a:t>• LPV-AR beats the tested neural models under this budget</a:t>
            </a:r>
          </a:p>
          <a:p>
            <a:pPr>
              <a:spcAft>
                <a:spcPts val="1100"/>
              </a:spcAft>
              <a:defRPr sz="2200" b="0">
                <a:solidFill>
                  <a:srgbClr val="24323E"/>
                </a:solidFill>
                <a:latin typeface="Aptos"/>
              </a:defRPr>
            </a:pPr>
            <a:r>
              <a:t>• FiLM speed-TCN mean MSE is 1.90% higher than TCN (3 seeds)</a:t>
            </a:r>
          </a:p>
          <a:p>
            <a:pPr>
              <a:spcAft>
                <a:spcPts val="1100"/>
              </a:spcAft>
              <a:defRPr sz="2200" b="0">
                <a:solidFill>
                  <a:srgbClr val="24323E"/>
                </a:solidFill>
                <a:latin typeface="Aptos"/>
              </a:defRPr>
            </a:pPr>
            <a:r>
              <a:t>• 200 separate fault-candidate records processed; physical fault accuracy unverified</a:t>
            </a:r>
          </a:p>
          <a:p>
            <a:pPr>
              <a:spcAft>
                <a:spcPts val="1100"/>
              </a:spcAft>
              <a:defRPr sz="2200" b="0">
                <a:solidFill>
                  <a:srgbClr val="24323E"/>
                </a:solidFill>
                <a:latin typeface="Aptos"/>
              </a:defRPr>
            </a:pPr>
            <a:r>
              <a:t>• Next evidence: independent test and verified physical speed units / health labels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Sources and reproducibility</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Editable decks generated from project outputs; exact CSVs and checkpoints retained</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15</a:t>
            </a:r>
          </a:p>
        </p:txBody>
      </p:sp>
      <p:sp>
        <p:nvSpPr>
          <p:cNvPr id="7" name="TextBox 6"/>
          <p:cNvSpPr txBox="1"/>
          <p:nvPr/>
        </p:nvSpPr>
        <p:spPr>
          <a:xfrm>
            <a:off x="594360" y="1783080"/>
            <a:ext cx="10972800" cy="4389120"/>
          </a:xfrm>
          <a:prstGeom prst="rect">
            <a:avLst/>
          </a:prstGeom>
          <a:noFill/>
        </p:spPr>
        <p:txBody>
          <a:bodyPr wrap="square" lIns="27432" rIns="27432" tIns="27432" bIns="27432">
            <a:spAutoFit/>
          </a:bodyPr>
          <a:lstStyle/>
          <a:p>
            <a:pPr>
              <a:spcAft>
                <a:spcPts val="1100"/>
              </a:spcAft>
              <a:defRPr sz="2000" b="0">
                <a:solidFill>
                  <a:srgbClr val="24323E"/>
                </a:solidFill>
                <a:latin typeface="Aptos"/>
              </a:defRPr>
            </a:pPr>
            <a:r>
              <a:t>• Chen et al. (2025), MSSP 224, 112161. doi:10.1016/j.ymssp.2024.112161</a:t>
            </a:r>
          </a:p>
          <a:p>
            <a:pPr>
              <a:spcAft>
                <a:spcPts val="1100"/>
              </a:spcAft>
              <a:defRPr sz="2000" b="0">
                <a:solidFill>
                  <a:srgbClr val="24323E"/>
                </a:solidFill>
                <a:latin typeface="Aptos"/>
              </a:defRPr>
            </a:pPr>
            <a:r>
              <a:t>• Bai, Kolter &amp; Koltun (2018), TCN. Original author implementation accessed</a:t>
            </a:r>
          </a:p>
          <a:p>
            <a:pPr>
              <a:spcAft>
                <a:spcPts val="1100"/>
              </a:spcAft>
              <a:defRPr sz="2000" b="0">
                <a:solidFill>
                  <a:srgbClr val="24323E"/>
                </a:solidFill>
                <a:latin typeface="Aptos"/>
              </a:defRPr>
            </a:pPr>
            <a:r>
              <a:t>• Perez et al. (2018), FiLM. Original author implementation accessed</a:t>
            </a:r>
          </a:p>
          <a:p>
            <a:pPr>
              <a:spcAft>
                <a:spcPts val="1100"/>
              </a:spcAft>
              <a:defRPr sz="2000" b="0">
                <a:solidFill>
                  <a:srgbClr val="24323E"/>
                </a:solidFill>
                <a:latin typeface="Aptos"/>
              </a:defRPr>
            </a:pPr>
            <a:r>
              <a:t>• Full evidence status: research/literature_matrix.csv and source_access_log.md</a:t>
            </a:r>
          </a:p>
          <a:p>
            <a:pPr>
              <a:spcAft>
                <a:spcPts val="1100"/>
              </a:spcAft>
              <a:defRPr sz="2000" b="0">
                <a:solidFill>
                  <a:srgbClr val="24323E"/>
                </a:solidFill>
                <a:latin typeface="Aptos"/>
              </a:defRPr>
            </a:pPr>
            <a:r>
              <a:t>• Rebuild: python scripts/build_presentations.py; inputs: reports/results_summary.csv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