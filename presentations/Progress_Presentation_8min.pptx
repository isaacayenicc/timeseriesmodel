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35 seconds.</a:t>
            </a:r>
          </a:p>
          <a:p>
            <a:r>
              <a:t>Introduce the engineering aim: predict the next sample causally, compare accuracy and cost, then inspect raw and residual diagnostic descriptors. The complete split upload now enables independent analysis of all 200 fault-candidate records. These are descriptive results without verified physical fault labels, not a validated diagnostic classifier.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45 seconds.</a:t>
            </a:r>
          </a:p>
          <a:p>
            <a:r>
              <a:t>Point to the ordering. For lag L, x[L] sees x[0:L], and speed inputs stop at L−1. Teacher forcing means previously measured vibration is available; this is not a free-running forecast. For causal models, changing future samples cannot change earlier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50 seconds.</a:t>
            </a:r>
          </a:p>
          <a:p>
            <a:r>
              <a:t>The two reference/validation files each contain 24,000 samples at 3,200 Hz. The newly available twenty MAT parts preserve 200 separate candidate records, each 32,000 samples or 10 seconds. No records are flattened together. No second normalization is applied to supplied fault x. Speed physical units and health labels remain unverified.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45 seconds.</a:t>
            </a:r>
          </a:p>
          <a:p>
            <a:r>
              <a:t>Describe the actual speed trajectory and amplitude/frequency variation without assigning unverified gear tooth counts or shaft units. The two speed traces are nearly identical. Correlation is not proof of leakage, but it sharply limits conclusions about unseen operating histories.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50 seconds.</a:t>
            </a:r>
          </a:p>
          <a:p>
            <a:r>
              <a:t>Every score uses the same 23,744 validation targets after a 256-sample burn-in, so changing lag does not change the scored sample population. Validation also selects neural epoch and model configuration; it is therefore optimistic for final generalization. No test file exists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55 seconds.</a:t>
            </a:r>
          </a:p>
          <a:p>
            <a:r>
              <a:t>Explain ridge as squared-error fitting with a coefficient-size penalty. The LPV-AR surrogate expands past vibration with speed and speed-squared interactions, but has no moving-average innovation recursion or lecturer-paper sparse estimation. It is not Spa LPV-ARMA. No published score is invented.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55 seconds.</a:t>
            </a:r>
          </a:p>
          <a:p>
            <a:r>
              <a:t>MLP maps a finite history to a scalar; the GRU summarizes a unidirectional sequence with update/reset gates; the TCN uses left-only padded convolutions and increasing dilations. Two convolutions per block give receptive field 1+4 times the sum of dilations. Limited training budgets must be disclosed.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55 seconds.</a:t>
            </a:r>
          </a:p>
          <a:p>
            <a:r>
              <a:t>FiLM is an established conditioning mechanism. Here each past temporal feature receives a bounded gain and offset from that position's observed speed. Compare to unconditioned same-core TCN, late speed concatenation, a larger unconditioned capacity control and an explicitly off-line phase-shifted-speed negative control. The shifted control is excluded from causal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55 seconds.</a:t>
            </a:r>
          </a:p>
          <a:p>
            <a:r>
              <a:t>The angle-domain indicators are computed under explicitly named RPM, revolutions-per-second and radians-per-second assumptions; none establishes the true speed unit. The literal MATLAB coarse index selects lag T minus one while the corrected branch selects T. The sensitivity plot compares actual record descriptors across these choices, not physical fault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target: 35 seconds.</a:t>
            </a:r>
          </a:p>
          <a:p>
            <a:r>
              <a:t>Summarize completed audit, trained and saved causal predictors, all 200 candidate records processed independently, tested numerical features and reproducible plots. Remaining needs are calibrated speed units, physical health labels and independent test data, plus clarification of the course date conflict. No additional upload is needed for the completed 200-record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Predicting variable-speed vibration</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Project progress · 8-minute speaking target · Author / group: add names</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1</a:t>
            </a:r>
          </a:p>
        </p:txBody>
      </p:sp>
      <p:sp>
        <p:nvSpPr>
          <p:cNvPr id="7" name="TextBox 6"/>
          <p:cNvSpPr txBox="1"/>
          <p:nvPr/>
        </p:nvSpPr>
        <p:spPr>
          <a:xfrm>
            <a:off x="685800" y="1847088"/>
            <a:ext cx="10698480" cy="1078992"/>
          </a:xfrm>
          <a:prstGeom prst="rect">
            <a:avLst/>
          </a:prstGeom>
          <a:noFill/>
        </p:spPr>
        <p:txBody>
          <a:bodyPr wrap="square" lIns="27432" rIns="27432" tIns="27432" bIns="27432">
            <a:spAutoFit/>
          </a:bodyPr>
          <a:lstStyle/>
          <a:p>
            <a:pPr>
              <a:spcAft>
                <a:spcPts val="1100"/>
              </a:spcAft>
              <a:defRPr sz="3400" b="1">
                <a:solidFill>
                  <a:srgbClr val="122538"/>
                </a:solidFill>
                <a:latin typeface="Aptos"/>
              </a:defRPr>
            </a:pPr>
            <a:r>
              <a:t>Can a compact causal model explain vibration efficiently—and leave interpretable residuals?</a:t>
            </a:r>
          </a:p>
        </p:txBody>
      </p:sp>
      <p:sp>
        <p:nvSpPr>
          <p:cNvPr id="8" name="TextBox 7"/>
          <p:cNvSpPr txBox="1"/>
          <p:nvPr/>
        </p:nvSpPr>
        <p:spPr>
          <a:xfrm>
            <a:off x="594360" y="3429000"/>
            <a:ext cx="10972800" cy="2834639"/>
          </a:xfrm>
          <a:prstGeom prst="rect">
            <a:avLst/>
          </a:prstGeom>
          <a:noFill/>
        </p:spPr>
        <p:txBody>
          <a:bodyPr wrap="square" lIns="27432" rIns="27432" tIns="27432" bIns="27432">
            <a:spAutoFit/>
          </a:bodyPr>
          <a:lstStyle/>
          <a:p>
            <a:pPr>
              <a:spcAft>
                <a:spcPts val="1100"/>
              </a:spcAft>
              <a:defRPr sz="2100" b="0">
                <a:solidFill>
                  <a:srgbClr val="24323E"/>
                </a:solidFill>
                <a:latin typeface="Aptos"/>
              </a:defRPr>
            </a:pPr>
            <a:r>
              <a:t>• Best measured validation configuration: lpv_L256_s17_a1</a:t>
            </a:r>
          </a:p>
          <a:p>
            <a:pPr>
              <a:spcAft>
                <a:spcPts val="1100"/>
              </a:spcAft>
              <a:defRPr sz="2100" b="0">
                <a:solidFill>
                  <a:srgbClr val="24323E"/>
                </a:solidFill>
                <a:latin typeface="Aptos"/>
              </a:defRPr>
            </a:pPr>
            <a:r>
              <a:t>• Common-index MSE: 0.3612; independent test unavailable</a:t>
            </a:r>
          </a:p>
          <a:p>
            <a:pPr>
              <a:spcAft>
                <a:spcPts val="1100"/>
              </a:spcAft>
              <a:defRPr sz="2100" b="0">
                <a:solidFill>
                  <a:srgbClr val="24323E"/>
                </a:solidFill>
                <a:latin typeface="Aptos"/>
              </a:defRPr>
            </a:pPr>
            <a:r>
              <a:t>• 200 separate fault-candidate records processed; physical fault accuracy unverified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A causal prediction task</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Previously observed samples predict the next sample; no future vibration</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2</a:t>
            </a:r>
          </a:p>
        </p:txBody>
      </p:sp>
      <p:sp>
        <p:nvSpPr>
          <p:cNvPr id="7" name="Rounded Rectangle 6"/>
          <p:cNvSpPr/>
          <p:nvPr/>
        </p:nvSpPr>
        <p:spPr>
          <a:xfrm>
            <a:off x="594360"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Observed history</a:t>
            </a:r>
            <a:br/>
            <a:r>
              <a:t>x[t−L:t], s[t−L:t]</a:t>
            </a:r>
          </a:p>
        </p:txBody>
      </p:sp>
      <p:sp>
        <p:nvSpPr>
          <p:cNvPr id="8" name="TextBox 7"/>
          <p:cNvSpPr txBox="1"/>
          <p:nvPr/>
        </p:nvSpPr>
        <p:spPr>
          <a:xfrm>
            <a:off x="3127248"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9" name="Rounded Rectangle 8"/>
          <p:cNvSpPr/>
          <p:nvPr/>
        </p:nvSpPr>
        <p:spPr>
          <a:xfrm>
            <a:off x="3355848"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Past-only windows</a:t>
            </a:r>
            <a:br/>
            <a:r>
              <a:t>no target values</a:t>
            </a:r>
          </a:p>
        </p:txBody>
      </p:sp>
      <p:sp>
        <p:nvSpPr>
          <p:cNvPr id="10" name="TextBox 9"/>
          <p:cNvSpPr txBox="1"/>
          <p:nvPr/>
        </p:nvSpPr>
        <p:spPr>
          <a:xfrm>
            <a:off x="5888736"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1" name="Rounded Rectangle 10"/>
          <p:cNvSpPr/>
          <p:nvPr/>
        </p:nvSpPr>
        <p:spPr>
          <a:xfrm>
            <a:off x="6117336"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Causal model</a:t>
            </a:r>
            <a:br/>
            <a:r>
              <a:t>x̂[t]</a:t>
            </a:r>
          </a:p>
        </p:txBody>
      </p:sp>
      <p:sp>
        <p:nvSpPr>
          <p:cNvPr id="12" name="TextBox 11"/>
          <p:cNvSpPr txBox="1"/>
          <p:nvPr/>
        </p:nvSpPr>
        <p:spPr>
          <a:xfrm>
            <a:off x="8650224"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3" name="Rounded Rectangle 12"/>
          <p:cNvSpPr/>
          <p:nvPr/>
        </p:nvSpPr>
        <p:spPr>
          <a:xfrm>
            <a:off x="8878824"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Residual</a:t>
            </a:r>
            <a:br/>
            <a:r>
              <a:t>e[t] = x[t] − x̂[t]</a:t>
            </a:r>
          </a:p>
        </p:txBody>
      </p:sp>
      <p:sp>
        <p:nvSpPr>
          <p:cNvPr id="14" name="TextBox 13"/>
          <p:cNvSpPr txBox="1"/>
          <p:nvPr/>
        </p:nvSpPr>
        <p:spPr>
          <a:xfrm>
            <a:off x="640080" y="3794760"/>
            <a:ext cx="10881360" cy="1417320"/>
          </a:xfrm>
          <a:prstGeom prst="rect">
            <a:avLst/>
          </a:prstGeom>
          <a:noFill/>
        </p:spPr>
        <p:txBody>
          <a:bodyPr wrap="square" lIns="27432" rIns="27432" tIns="27432" bIns="27432">
            <a:spAutoFit/>
          </a:bodyPr>
          <a:lstStyle/>
          <a:p>
            <a:pPr>
              <a:spcAft>
                <a:spcPts val="1100"/>
              </a:spcAft>
              <a:defRPr sz="2400" b="0">
                <a:solidFill>
                  <a:srgbClr val="24323E"/>
                </a:solidFill>
                <a:latin typeface="Aptos"/>
              </a:defRPr>
            </a:pPr>
            <a:r>
              <a:t>Example: x[64] uses samples 0…63 only. One-step teacher forcing; no x[64] in model inputs.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What the accessible data establish</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Measured audit; labels and calibration are not invented</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3</a:t>
            </a:r>
          </a:p>
        </p:txBody>
      </p:sp>
      <p:sp>
        <p:nvSpPr>
          <p:cNvPr id="7" name="TextBox 6"/>
          <p:cNvSpPr txBox="1"/>
          <p:nvPr/>
        </p:nvSpPr>
        <p:spPr>
          <a:xfrm>
            <a:off x="594360" y="1783080"/>
            <a:ext cx="10972800" cy="4389120"/>
          </a:xfrm>
          <a:prstGeom prst="rect">
            <a:avLst/>
          </a:prstGeom>
          <a:noFill/>
        </p:spPr>
        <p:txBody>
          <a:bodyPr wrap="square" lIns="27432" rIns="27432" tIns="27432" bIns="27432">
            <a:spAutoFit/>
          </a:bodyPr>
          <a:lstStyle/>
          <a:p>
            <a:pPr>
              <a:spcAft>
                <a:spcPts val="1100"/>
              </a:spcAft>
              <a:defRPr sz="2100" b="0">
                <a:solidFill>
                  <a:srgbClr val="24323E"/>
                </a:solidFill>
                <a:latin typeface="Aptos"/>
              </a:defRPr>
            </a:pPr>
            <a:r>
              <a:t>• Train: 24,000 samples · Validation: 24,000 samples · fs = 3,200 Hz</a:t>
            </a:r>
          </a:p>
          <a:p>
            <a:pPr>
              <a:spcAft>
                <a:spcPts val="1100"/>
              </a:spcAft>
              <a:defRPr sz="2100" b="0">
                <a:solidFill>
                  <a:srgbClr val="24323E"/>
                </a:solidFill>
                <a:latin typeface="Aptos"/>
              </a:defRPr>
            </a:pPr>
            <a:r>
              <a:t>• Provided x and spdnorm are used exactly; no record-wise rescaling</a:t>
            </a:r>
          </a:p>
          <a:p>
            <a:pPr>
              <a:spcAft>
                <a:spcPts val="1100"/>
              </a:spcAft>
              <a:defRPr sz="2100" b="0">
                <a:solidFill>
                  <a:srgbClr val="24323E"/>
                </a:solidFill>
                <a:latin typeface="Aptos"/>
              </a:defRPr>
            </a:pPr>
            <a:r>
              <a:t>• Speed trajectory correlation: 0.999999571</a:t>
            </a:r>
          </a:p>
          <a:p>
            <a:pPr>
              <a:spcAft>
                <a:spcPts val="1100"/>
              </a:spcAft>
              <a:defRPr sz="2100" b="0">
                <a:solidFill>
                  <a:srgbClr val="24323E"/>
                </a:solidFill>
                <a:latin typeface="Aptos"/>
              </a:defRPr>
            </a:pPr>
            <a:r>
              <a:t>• Speed units / reference health state unverified; normalized x is dimensionless</a:t>
            </a:r>
          </a:p>
          <a:p>
            <a:pPr>
              <a:spcAft>
                <a:spcPts val="1100"/>
              </a:spcAft>
              <a:defRPr sz="2100" b="0">
                <a:solidFill>
                  <a:srgbClr val="24323E"/>
                </a:solidFill>
                <a:latin typeface="Aptos"/>
              </a:defRPr>
            </a:pPr>
            <a:r>
              <a:t>• Fault candidates: 200 separate 10-second records in 20 MAT parts</a:t>
            </a:r>
          </a:p>
          <a:p>
            <a:pPr>
              <a:spcAft>
                <a:spcPts val="1100"/>
              </a:spcAft>
              <a:defRPr sz="2100" b="0">
                <a:solidFill>
                  <a:srgbClr val="24323E"/>
                </a:solidFill>
                <a:latin typeface="Aptos"/>
              </a:defRPr>
            </a:pPr>
            <a:r>
              <a:t>• sigtest.mat and sigfault2.mat not supplied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Operating speed changes the signal</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Train and validation each contain one 7.5-second recording</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4</a:t>
            </a:r>
          </a:p>
        </p:txBody>
      </p:sp>
      <p:pic>
        <p:nvPicPr>
          <p:cNvPr id="7" name="Picture 6" descr="eda.png"/>
          <p:cNvPicPr>
            <a:picLocks noChangeAspect="1"/>
          </p:cNvPicPr>
          <p:nvPr/>
        </p:nvPicPr>
        <p:blipFill>
          <a:blip r:embed="rId2"/>
          <a:stretch>
            <a:fillRect/>
          </a:stretch>
        </p:blipFill>
        <p:spPr>
          <a:xfrm>
            <a:off x="566928" y="1691640"/>
            <a:ext cx="8498467" cy="4206240"/>
          </a:xfrm>
          <a:prstGeom prst="rect">
            <a:avLst/>
          </a:prstGeom>
        </p:spPr>
      </p:pic>
      <p:sp>
        <p:nvSpPr>
          <p:cNvPr id="8" name="TextBox 7"/>
          <p:cNvSpPr txBox="1"/>
          <p:nvPr/>
        </p:nvSpPr>
        <p:spPr>
          <a:xfrm>
            <a:off x="594360" y="5943600"/>
            <a:ext cx="10972800" cy="411480"/>
          </a:xfrm>
          <a:prstGeom prst="rect">
            <a:avLst/>
          </a:prstGeom>
          <a:noFill/>
        </p:spPr>
        <p:txBody>
          <a:bodyPr wrap="square" lIns="27432" rIns="27432" tIns="27432" bIns="27432">
            <a:spAutoFit/>
          </a:bodyPr>
          <a:lstStyle/>
          <a:p>
            <a:pPr>
              <a:spcAft>
                <a:spcPts val="1100"/>
              </a:spcAft>
              <a:defRPr sz="1100" b="0">
                <a:solidFill>
                  <a:srgbClr val="5B6C7C"/>
                </a:solidFill>
                <a:latin typeface="Aptos"/>
              </a:defRPr>
            </a:pPr>
            <a:r>
              <a:t>Source: data/raw/sigtrain.mat and sigvalid.mat; hashes in data/manifest.json.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A fair evaluation contract</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One-step teacher forcing · common burn-in · validation only</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5</a:t>
            </a:r>
          </a:p>
        </p:txBody>
      </p:sp>
      <p:sp>
        <p:nvSpPr>
          <p:cNvPr id="7" name="TextBox 6"/>
          <p:cNvSpPr txBox="1"/>
          <p:nvPr/>
        </p:nvSpPr>
        <p:spPr>
          <a:xfrm>
            <a:off x="594360" y="1783080"/>
            <a:ext cx="10972800" cy="4389120"/>
          </a:xfrm>
          <a:prstGeom prst="rect">
            <a:avLst/>
          </a:prstGeom>
          <a:noFill/>
        </p:spPr>
        <p:txBody>
          <a:bodyPr wrap="square" lIns="27432" rIns="27432" tIns="27432" bIns="27432">
            <a:spAutoFit/>
          </a:bodyPr>
          <a:lstStyle/>
          <a:p>
            <a:pPr>
              <a:spcAft>
                <a:spcPts val="1100"/>
              </a:spcAft>
              <a:defRPr sz="2300" b="0">
                <a:solidFill>
                  <a:srgbClr val="24323E"/>
                </a:solidFill>
                <a:latin typeface="Aptos"/>
              </a:defRPr>
            </a:pPr>
            <a:r>
              <a:t>• Fit on sigtrain; select epochs/configurations using sigvalid</a:t>
            </a:r>
          </a:p>
          <a:p>
            <a:pPr>
              <a:spcAft>
                <a:spcPts val="1100"/>
              </a:spcAft>
              <a:defRPr sz="2300" b="0">
                <a:solidFill>
                  <a:srgbClr val="24323E"/>
                </a:solidFill>
                <a:latin typeface="Aptos"/>
              </a:defRPr>
            </a:pPr>
            <a:r>
              <a:t>• Score all models at zero-based indices 256…23,999: 23,744 targets</a:t>
            </a:r>
          </a:p>
          <a:p>
            <a:pPr>
              <a:spcAft>
                <a:spcPts val="1100"/>
              </a:spcAft>
              <a:defRPr sz="2300" b="0">
                <a:solidFill>
                  <a:srgbClr val="24323E"/>
                </a:solidFill>
                <a:latin typeface="Aptos"/>
              </a:defRPr>
            </a:pPr>
            <a:r>
              <a:t>• Observed past vibration; speed available only through t−1</a:t>
            </a:r>
          </a:p>
          <a:p>
            <a:pPr>
              <a:spcAft>
                <a:spcPts val="1100"/>
              </a:spcAft>
              <a:defRPr sz="2300" b="0">
                <a:solidFill>
                  <a:srgbClr val="24323E"/>
                </a:solidFill>
                <a:latin typeface="Aptos"/>
              </a:defRPr>
            </a:pPr>
            <a:r>
              <a:t>• No random window split presented as independent generalization</a:t>
            </a:r>
          </a:p>
          <a:p>
            <a:pPr>
              <a:spcAft>
                <a:spcPts val="1100"/>
              </a:spcAft>
              <a:defRPr sz="2300" b="0">
                <a:solidFill>
                  <a:srgbClr val="24323E"/>
                </a:solidFill>
                <a:latin typeface="Aptos"/>
              </a:defRPr>
            </a:pPr>
            <a:r>
              <a:t>• Validation is reused for selection: final unbiased test performance remains unknown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Strong baselines come first</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Least squares, ridge regularization and speed-dependent coefficients</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6</a:t>
            </a:r>
          </a:p>
        </p:txBody>
      </p:sp>
      <p:sp>
        <p:nvSpPr>
          <p:cNvPr id="7" name="TextBox 6"/>
          <p:cNvSpPr txBox="1"/>
          <p:nvPr/>
        </p:nvSpPr>
        <p:spPr>
          <a:xfrm>
            <a:off x="685800" y="1783080"/>
            <a:ext cx="10607040" cy="777240"/>
          </a:xfrm>
          <a:prstGeom prst="rect">
            <a:avLst/>
          </a:prstGeom>
          <a:noFill/>
        </p:spPr>
        <p:txBody>
          <a:bodyPr wrap="square" lIns="27432" rIns="27432" tIns="27432" bIns="27432">
            <a:spAutoFit/>
          </a:bodyPr>
          <a:lstStyle/>
          <a:p>
            <a:pPr>
              <a:spcAft>
                <a:spcPts val="1100"/>
              </a:spcAft>
              <a:defRPr sz="2900" b="1">
                <a:solidFill>
                  <a:srgbClr val="007080"/>
                </a:solidFill>
                <a:latin typeface="Aptos"/>
              </a:defRPr>
            </a:pPr>
            <a:r>
              <a:t>Ridge AR:  minimize ‖y − Xb‖² + α‖b‖²,  α = 1</a:t>
            </a:r>
          </a:p>
        </p:txBody>
      </p:sp>
      <p:sp>
        <p:nvSpPr>
          <p:cNvPr id="8" name="TextBox 7"/>
          <p:cNvSpPr txBox="1"/>
          <p:nvPr/>
        </p:nvSpPr>
        <p:spPr>
          <a:xfrm>
            <a:off x="594360" y="2788920"/>
            <a:ext cx="10972800" cy="3474720"/>
          </a:xfrm>
          <a:prstGeom prst="rect">
            <a:avLst/>
          </a:prstGeom>
          <a:noFill/>
        </p:spPr>
        <p:txBody>
          <a:bodyPr wrap="square" lIns="27432" rIns="27432" tIns="27432" bIns="27432">
            <a:spAutoFit/>
          </a:bodyPr>
          <a:lstStyle/>
          <a:p>
            <a:pPr>
              <a:spcAft>
                <a:spcPts val="1100"/>
              </a:spcAft>
              <a:defRPr sz="2200" b="0">
                <a:solidFill>
                  <a:srgbClr val="24323E"/>
                </a:solidFill>
                <a:latin typeface="Aptos"/>
              </a:defRPr>
            </a:pPr>
            <a:r>
              <a:t>• Zero, training-mean and persistence sanity checks</a:t>
            </a:r>
          </a:p>
          <a:p>
            <a:pPr>
              <a:spcAft>
                <a:spcPts val="1100"/>
              </a:spcAft>
              <a:defRPr sz="2200" b="0">
                <a:solidFill>
                  <a:srgbClr val="24323E"/>
                </a:solidFill>
                <a:latin typeface="Aptos"/>
              </a:defRPr>
            </a:pPr>
            <a:r>
              <a:t>• OLS and ridge AR; ARX appends past speed and speed²</a:t>
            </a:r>
          </a:p>
          <a:p>
            <a:pPr>
              <a:spcAft>
                <a:spcPts val="1100"/>
              </a:spcAft>
              <a:defRPr sz="2200" b="0">
                <a:solidFill>
                  <a:srgbClr val="24323E"/>
                </a:solidFill>
                <a:latin typeface="Aptos"/>
              </a:defRPr>
            </a:pPr>
            <a:r>
              <a:t>• LPV-AR: lag coefficients vary polynomially with speed at t−1</a:t>
            </a:r>
          </a:p>
          <a:p>
            <a:pPr>
              <a:spcAft>
                <a:spcPts val="1100"/>
              </a:spcAft>
              <a:defRPr sz="2200" b="0">
                <a:solidFill>
                  <a:srgbClr val="24323E"/>
                </a:solidFill>
                <a:latin typeface="Aptos"/>
              </a:defRPr>
            </a:pPr>
            <a:r>
              <a:t>• Measured ridge AR(256) validation MSE: 0.420058 (zero: 1.104077)</a:t>
            </a:r>
          </a:p>
          <a:p>
            <a:pPr>
              <a:spcAft>
                <a:spcPts val="1100"/>
              </a:spcAft>
              <a:defRPr sz="2200" b="0">
                <a:solidFill>
                  <a:srgbClr val="24323E"/>
                </a:solidFill>
                <a:latin typeface="Aptos"/>
              </a:defRPr>
            </a:pPr>
            <a:r>
              <a:t>• LPV-AR surrogate has no ARMA innovation recursion; no exact paper reproduction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Compact nonlinear alternatives</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MLP, unidirectional GRU and explicitly causal dilated TCN</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7</a:t>
            </a:r>
          </a:p>
        </p:txBody>
      </p:sp>
      <p:sp>
        <p:nvSpPr>
          <p:cNvPr id="7" name="Rounded Rectangle 6"/>
          <p:cNvSpPr/>
          <p:nvPr/>
        </p:nvSpPr>
        <p:spPr>
          <a:xfrm>
            <a:off x="594360" y="1965960"/>
            <a:ext cx="3425952"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MLP</a:t>
            </a:r>
            <a:br/>
            <a:r>
              <a:t>lag vector → scalar</a:t>
            </a:r>
          </a:p>
        </p:txBody>
      </p:sp>
      <p:sp>
        <p:nvSpPr>
          <p:cNvPr id="8" name="Rounded Rectangle 7"/>
          <p:cNvSpPr/>
          <p:nvPr/>
        </p:nvSpPr>
        <p:spPr>
          <a:xfrm>
            <a:off x="4276344" y="1965960"/>
            <a:ext cx="3425952"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GRU</a:t>
            </a:r>
            <a:br/>
            <a:r>
              <a:t>update / reset gates</a:t>
            </a:r>
          </a:p>
        </p:txBody>
      </p:sp>
      <p:sp>
        <p:nvSpPr>
          <p:cNvPr id="9" name="Rounded Rectangle 8"/>
          <p:cNvSpPr/>
          <p:nvPr/>
        </p:nvSpPr>
        <p:spPr>
          <a:xfrm>
            <a:off x="7958328" y="1965960"/>
            <a:ext cx="3425952"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TCN</a:t>
            </a:r>
            <a:br/>
            <a:r>
              <a:t>causal dilations</a:t>
            </a:r>
          </a:p>
        </p:txBody>
      </p:sp>
      <p:sp>
        <p:nvSpPr>
          <p:cNvPr id="10" name="TextBox 9"/>
          <p:cNvSpPr txBox="1"/>
          <p:nvPr/>
        </p:nvSpPr>
        <p:spPr>
          <a:xfrm>
            <a:off x="640080" y="3794760"/>
            <a:ext cx="10881360" cy="1417320"/>
          </a:xfrm>
          <a:prstGeom prst="rect">
            <a:avLst/>
          </a:prstGeom>
          <a:noFill/>
        </p:spPr>
        <p:txBody>
          <a:bodyPr wrap="square" lIns="27432" rIns="27432" tIns="27432" bIns="27432">
            <a:spAutoFit/>
          </a:bodyPr>
          <a:lstStyle/>
          <a:p>
            <a:pPr>
              <a:spcAft>
                <a:spcPts val="1100"/>
              </a:spcAft>
              <a:defRPr sz="2400" b="0">
                <a:solidFill>
                  <a:srgbClr val="24323E"/>
                </a:solidFill>
                <a:latin typeface="Aptos"/>
              </a:defRPr>
            </a:pPr>
            <a:r>
              <a:t>Three separate model alternatives; compact networks, bounded epochs and recorded seeds. TCN: two kernel-3 convolutions per block; receptive field = 1 + 4 Σ dilation.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A falsifiable speed-conditioning proposal</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Established FiLM, adapted to observed past speed</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8</a:t>
            </a:r>
          </a:p>
        </p:txBody>
      </p:sp>
      <p:sp>
        <p:nvSpPr>
          <p:cNvPr id="7" name="Rounded Rectangle 6"/>
          <p:cNvSpPr/>
          <p:nvPr/>
        </p:nvSpPr>
        <p:spPr>
          <a:xfrm>
            <a:off x="594360"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Past speed s[k]</a:t>
            </a:r>
          </a:p>
        </p:txBody>
      </p:sp>
      <p:sp>
        <p:nvSpPr>
          <p:cNvPr id="8" name="TextBox 7"/>
          <p:cNvSpPr txBox="1"/>
          <p:nvPr/>
        </p:nvSpPr>
        <p:spPr>
          <a:xfrm>
            <a:off x="3127248"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9" name="Rounded Rectangle 8"/>
          <p:cNvSpPr/>
          <p:nvPr/>
        </p:nvSpPr>
        <p:spPr>
          <a:xfrm>
            <a:off x="3355848"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Small linear map</a:t>
            </a:r>
            <a:br/>
            <a:r>
              <a:t>γ(s), β(s)</a:t>
            </a:r>
          </a:p>
        </p:txBody>
      </p:sp>
      <p:sp>
        <p:nvSpPr>
          <p:cNvPr id="10" name="TextBox 9"/>
          <p:cNvSpPr txBox="1"/>
          <p:nvPr/>
        </p:nvSpPr>
        <p:spPr>
          <a:xfrm>
            <a:off x="5888736"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1" name="Rounded Rectangle 10"/>
          <p:cNvSpPr/>
          <p:nvPr/>
        </p:nvSpPr>
        <p:spPr>
          <a:xfrm>
            <a:off x="6117336"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h[k] × gain</a:t>
            </a:r>
            <a:br/>
            <a:r>
              <a:t>+ offset</a:t>
            </a:r>
          </a:p>
        </p:txBody>
      </p:sp>
      <p:sp>
        <p:nvSpPr>
          <p:cNvPr id="12" name="TextBox 11"/>
          <p:cNvSpPr txBox="1"/>
          <p:nvPr/>
        </p:nvSpPr>
        <p:spPr>
          <a:xfrm>
            <a:off x="8650224"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3" name="Rounded Rectangle 12"/>
          <p:cNvSpPr/>
          <p:nvPr/>
        </p:nvSpPr>
        <p:spPr>
          <a:xfrm>
            <a:off x="8878824"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Causal prediction</a:t>
            </a:r>
          </a:p>
        </p:txBody>
      </p:sp>
      <p:sp>
        <p:nvSpPr>
          <p:cNvPr id="14" name="TextBox 13"/>
          <p:cNvSpPr txBox="1"/>
          <p:nvPr/>
        </p:nvSpPr>
        <p:spPr>
          <a:xfrm>
            <a:off x="640080" y="3794760"/>
            <a:ext cx="10881360" cy="1417320"/>
          </a:xfrm>
          <a:prstGeom prst="rect">
            <a:avLst/>
          </a:prstGeom>
          <a:noFill/>
        </p:spPr>
        <p:txBody>
          <a:bodyPr wrap="square" lIns="27432" rIns="27432" tIns="27432" bIns="27432">
            <a:spAutoFit/>
          </a:bodyPr>
          <a:lstStyle/>
          <a:p>
            <a:pPr>
              <a:spcAft>
                <a:spcPts val="1100"/>
              </a:spcAft>
              <a:defRPr sz="2400" b="0">
                <a:solidFill>
                  <a:srgbClr val="24323E"/>
                </a:solidFill>
                <a:latin typeface="Aptos"/>
              </a:defRPr>
            </a:pPr>
            <a:r>
              <a:t>Hypothesis: operating-speed information helps beyond extra capacity. Controls: late concatenation, larger unconditioned TCN and off-line phase-shifted speed (negative control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Residuals are diagnostic candidates</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Python numerical validation is separate from real fault evidence</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9</a:t>
            </a:r>
          </a:p>
        </p:txBody>
      </p:sp>
      <p:sp>
        <p:nvSpPr>
          <p:cNvPr id="7" name="Rounded Rectangle 6"/>
          <p:cNvSpPr/>
          <p:nvPr/>
        </p:nvSpPr>
        <p:spPr>
          <a:xfrm>
            <a:off x="594360"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Residual / raw</a:t>
            </a:r>
          </a:p>
        </p:txBody>
      </p:sp>
      <p:sp>
        <p:nvSpPr>
          <p:cNvPr id="8" name="TextBox 7"/>
          <p:cNvSpPr txBox="1"/>
          <p:nvPr/>
        </p:nvSpPr>
        <p:spPr>
          <a:xfrm>
            <a:off x="3127248"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9" name="Rounded Rectangle 8"/>
          <p:cNvSpPr/>
          <p:nvPr/>
        </p:nvSpPr>
        <p:spPr>
          <a:xfrm>
            <a:off x="3355848"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Explicit-unit</a:t>
            </a:r>
            <a:br/>
            <a:r>
              <a:t>angle grid</a:t>
            </a:r>
          </a:p>
        </p:txBody>
      </p:sp>
      <p:sp>
        <p:nvSpPr>
          <p:cNvPr id="10" name="TextBox 9"/>
          <p:cNvSpPr txBox="1"/>
          <p:nvPr/>
        </p:nvSpPr>
        <p:spPr>
          <a:xfrm>
            <a:off x="5888736"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1" name="Rounded Rectangle 10"/>
          <p:cNvSpPr/>
          <p:nvPr/>
        </p:nvSpPr>
        <p:spPr>
          <a:xfrm>
            <a:off x="6117336" y="1965960"/>
            <a:ext cx="2505456" cy="1325880"/>
          </a:xfrm>
          <a:prstGeom prst="roundRect">
            <a:avLst/>
          </a:prstGeom>
          <a:solidFill>
            <a:srgbClr val="1225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Envelope + ACF</a:t>
            </a:r>
          </a:p>
        </p:txBody>
      </p:sp>
      <p:sp>
        <p:nvSpPr>
          <p:cNvPr id="12" name="TextBox 11"/>
          <p:cNvSpPr txBox="1"/>
          <p:nvPr/>
        </p:nvSpPr>
        <p:spPr>
          <a:xfrm>
            <a:off x="8650224" y="2404872"/>
            <a:ext cx="228600" cy="411480"/>
          </a:xfrm>
          <a:prstGeom prst="rect">
            <a:avLst/>
          </a:prstGeom>
          <a:noFill/>
        </p:spPr>
        <p:txBody>
          <a:bodyPr wrap="square" lIns="27432" rIns="27432" tIns="27432" bIns="27432">
            <a:spAutoFit/>
          </a:bodyPr>
          <a:lstStyle/>
          <a:p>
            <a:pPr>
              <a:spcAft>
                <a:spcPts val="1100"/>
              </a:spcAft>
              <a:defRPr sz="2000" b="1">
                <a:solidFill>
                  <a:srgbClr val="007080"/>
                </a:solidFill>
                <a:latin typeface="Aptos"/>
              </a:defRPr>
            </a:pPr>
            <a:r>
              <a:t>→</a:t>
            </a:r>
          </a:p>
        </p:txBody>
      </p:sp>
      <p:sp>
        <p:nvSpPr>
          <p:cNvPr id="13" name="Rounded Rectangle 12"/>
          <p:cNvSpPr/>
          <p:nvPr/>
        </p:nvSpPr>
        <p:spPr>
          <a:xfrm>
            <a:off x="8878824" y="1965960"/>
            <a:ext cx="2505456" cy="1325880"/>
          </a:xfrm>
          <a:prstGeom prst="round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900">
                <a:solidFill>
                  <a:srgbClr val="FFFFFF"/>
                </a:solidFill>
                <a:latin typeface="Aptos"/>
              </a:defRPr>
            </a:pPr>
            <a:r>
              <a:t>CK / PMI</a:t>
            </a:r>
            <a:br/>
            <a:r>
              <a:t>with caveats</a:t>
            </a:r>
          </a:p>
        </p:txBody>
      </p:sp>
      <p:sp>
        <p:nvSpPr>
          <p:cNvPr id="14" name="TextBox 13"/>
          <p:cNvSpPr txBox="1"/>
          <p:nvPr/>
        </p:nvSpPr>
        <p:spPr>
          <a:xfrm>
            <a:off x="640080" y="3794760"/>
            <a:ext cx="10881360" cy="1417320"/>
          </a:xfrm>
          <a:prstGeom prst="rect">
            <a:avLst/>
          </a:prstGeom>
          <a:noFill/>
        </p:spPr>
        <p:txBody>
          <a:bodyPr wrap="square" lIns="27432" rIns="27432" tIns="27432" bIns="27432">
            <a:spAutoFit/>
          </a:bodyPr>
          <a:lstStyle/>
          <a:p>
            <a:pPr>
              <a:spcAft>
                <a:spcPts val="1100"/>
              </a:spcAft>
              <a:defRPr sz="2400" b="0">
                <a:solidFill>
                  <a:srgbClr val="24323E"/>
                </a:solidFill>
                <a:latin typeface="Aptos"/>
              </a:defRPr>
            </a:pPr>
            <a:r>
              <a:t>Literal MATLAB PMI selects lag T−1; corrected variant selects T. Numerical tests and explicit unit assumptions support descriptive indicators; physical fault accuracy is unverified.</a:t>
            </a:r>
          </a:p>
        </p:txBody>
      </p:sp>
      <p:sp>
        <p:nvSpPr>
          <p:cNvPr id="15" name="TextBox 14"/>
          <p:cNvSpPr txBox="1"/>
          <p:nvPr/>
        </p:nvSpPr>
        <p:spPr>
          <a:xfrm>
            <a:off x="640080" y="5623560"/>
            <a:ext cx="10881360" cy="594360"/>
          </a:xfrm>
          <a:prstGeom prst="rect">
            <a:avLst/>
          </a:prstGeom>
          <a:noFill/>
        </p:spPr>
        <p:txBody>
          <a:bodyPr wrap="square" lIns="27432" rIns="27432" tIns="27432" bIns="27432">
            <a:spAutoFit/>
          </a:bodyPr>
          <a:lstStyle/>
          <a:p>
            <a:pPr>
              <a:spcAft>
                <a:spcPts val="1100"/>
              </a:spcAft>
              <a:defRPr sz="1500" b="0">
                <a:solidFill>
                  <a:srgbClr val="007080"/>
                </a:solidFill>
                <a:latin typeface="Aptos"/>
              </a:defRPr>
            </a:pPr>
            <a:r>
              <a:t>200 separate fault-candidate records processed; physical fault accuracy unverified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47472"/>
            <a:ext cx="11247120" cy="658368"/>
          </a:xfrm>
          <a:prstGeom prst="rect">
            <a:avLst/>
          </a:prstGeom>
          <a:noFill/>
        </p:spPr>
        <p:txBody>
          <a:bodyPr wrap="square" lIns="27432" rIns="27432" tIns="27432" bIns="27432">
            <a:spAutoFit/>
          </a:bodyPr>
          <a:lstStyle/>
          <a:p>
            <a:pPr>
              <a:spcAft>
                <a:spcPts val="1100"/>
              </a:spcAft>
              <a:defRPr sz="2900" b="1">
                <a:solidFill>
                  <a:srgbClr val="122538"/>
                </a:solidFill>
                <a:latin typeface="Aptos"/>
              </a:defRPr>
            </a:pPr>
            <a:r>
              <a:t>Evidence, blockers and next steps</a:t>
            </a:r>
          </a:p>
        </p:txBody>
      </p:sp>
      <p:sp>
        <p:nvSpPr>
          <p:cNvPr id="4" name="TextBox 3"/>
          <p:cNvSpPr txBox="1"/>
          <p:nvPr/>
        </p:nvSpPr>
        <p:spPr>
          <a:xfrm>
            <a:off x="466344" y="987552"/>
            <a:ext cx="11155680" cy="502920"/>
          </a:xfrm>
          <a:prstGeom prst="rect">
            <a:avLst/>
          </a:prstGeom>
          <a:noFill/>
        </p:spPr>
        <p:txBody>
          <a:bodyPr wrap="square" lIns="27432" rIns="27432" tIns="27432" bIns="27432">
            <a:spAutoFit/>
          </a:bodyPr>
          <a:lstStyle/>
          <a:p>
            <a:pPr>
              <a:spcAft>
                <a:spcPts val="1100"/>
              </a:spcAft>
              <a:defRPr sz="1300" b="0">
                <a:solidFill>
                  <a:srgbClr val="5B6C7C"/>
                </a:solidFill>
                <a:latin typeface="Aptos"/>
              </a:defRPr>
            </a:pPr>
            <a:r>
              <a:t>Updated PDF rubric: organization 4 · clarity 6 · understanding 8 · novelty 2%</a:t>
            </a:r>
          </a:p>
        </p:txBody>
      </p:sp>
      <p:sp>
        <p:nvSpPr>
          <p:cNvPr id="5" name="TextBox 4"/>
          <p:cNvSpPr txBox="1"/>
          <p:nvPr/>
        </p:nvSpPr>
        <p:spPr>
          <a:xfrm>
            <a:off x="457200" y="6510528"/>
            <a:ext cx="10881360" cy="201168"/>
          </a:xfrm>
          <a:prstGeom prst="rect">
            <a:avLst/>
          </a:prstGeom>
          <a:noFill/>
        </p:spPr>
        <p:txBody>
          <a:bodyPr wrap="square" lIns="27432" rIns="27432" tIns="27432" bIns="27432">
            <a:spAutoFit/>
          </a:bodyPr>
          <a:lstStyle/>
          <a:p>
            <a:pPr>
              <a:spcAft>
                <a:spcPts val="1100"/>
              </a:spcAft>
              <a:defRPr sz="900" b="0">
                <a:solidFill>
                  <a:srgbClr val="5B6C7C"/>
                </a:solidFill>
                <a:latin typeface="Aptos"/>
              </a:defRPr>
            </a:pPr>
            <a:r>
              <a:t>MECG 7780 · Validation study · Generated from saved experiment outputs</a:t>
            </a:r>
          </a:p>
        </p:txBody>
      </p:sp>
      <p:sp>
        <p:nvSpPr>
          <p:cNvPr id="6" name="TextBox 5"/>
          <p:cNvSpPr txBox="1"/>
          <p:nvPr/>
        </p:nvSpPr>
        <p:spPr>
          <a:xfrm>
            <a:off x="11201400" y="6492240"/>
            <a:ext cx="502920" cy="228600"/>
          </a:xfrm>
          <a:prstGeom prst="rect">
            <a:avLst/>
          </a:prstGeom>
          <a:noFill/>
        </p:spPr>
        <p:txBody>
          <a:bodyPr wrap="square" lIns="27432" rIns="27432" tIns="27432" bIns="27432">
            <a:spAutoFit/>
          </a:bodyPr>
          <a:lstStyle/>
          <a:p>
            <a:pPr>
              <a:spcAft>
                <a:spcPts val="1100"/>
              </a:spcAft>
              <a:defRPr sz="1000" b="0">
                <a:solidFill>
                  <a:srgbClr val="5B6C7C"/>
                </a:solidFill>
                <a:latin typeface="Aptos"/>
              </a:defRPr>
            </a:pPr>
            <a:r>
              <a:t>10</a:t>
            </a:r>
          </a:p>
        </p:txBody>
      </p:sp>
      <p:sp>
        <p:nvSpPr>
          <p:cNvPr id="7" name="TextBox 6"/>
          <p:cNvSpPr txBox="1"/>
          <p:nvPr/>
        </p:nvSpPr>
        <p:spPr>
          <a:xfrm>
            <a:off x="594360" y="1783080"/>
            <a:ext cx="10972800" cy="4389120"/>
          </a:xfrm>
          <a:prstGeom prst="rect">
            <a:avLst/>
          </a:prstGeom>
          <a:noFill/>
        </p:spPr>
        <p:txBody>
          <a:bodyPr wrap="square" lIns="27432" rIns="27432" tIns="27432" bIns="27432">
            <a:spAutoFit/>
          </a:bodyPr>
          <a:lstStyle/>
          <a:p>
            <a:pPr>
              <a:spcAft>
                <a:spcPts val="1100"/>
              </a:spcAft>
              <a:defRPr sz="2200" b="0">
                <a:solidFill>
                  <a:srgbClr val="24323E"/>
                </a:solidFill>
                <a:latin typeface="Aptos"/>
              </a:defRPr>
            </a:pPr>
            <a:r>
              <a:t>• Measured best: lpv_L256_s17_a1, validation MSE 0.3612</a:t>
            </a:r>
          </a:p>
          <a:p>
            <a:pPr>
              <a:spcAft>
                <a:spcPts val="1100"/>
              </a:spcAft>
              <a:defRPr sz="2200" b="0">
                <a:solidFill>
                  <a:srgbClr val="24323E"/>
                </a:solidFill>
                <a:latin typeface="Aptos"/>
              </a:defRPr>
            </a:pPr>
            <a:r>
              <a:t>• LPV-AR beats the tested neural models under this budget</a:t>
            </a:r>
          </a:p>
          <a:p>
            <a:pPr>
              <a:spcAft>
                <a:spcPts val="1100"/>
              </a:spcAft>
              <a:defRPr sz="2200" b="0">
                <a:solidFill>
                  <a:srgbClr val="24323E"/>
                </a:solidFill>
                <a:latin typeface="Aptos"/>
              </a:defRPr>
            </a:pPr>
            <a:r>
              <a:t>• FiLM speed-TCN mean MSE is 1.90% higher than TCN (3 seeds)</a:t>
            </a:r>
          </a:p>
          <a:p>
            <a:pPr>
              <a:spcAft>
                <a:spcPts val="1100"/>
              </a:spcAft>
              <a:defRPr sz="2200" b="0">
                <a:solidFill>
                  <a:srgbClr val="24323E"/>
                </a:solidFill>
                <a:latin typeface="Aptos"/>
              </a:defRPr>
            </a:pPr>
            <a:r>
              <a:t>• 200 separate fault-candidate records processed; physical fault accuracy unverified</a:t>
            </a:r>
          </a:p>
          <a:p>
            <a:pPr>
              <a:spcAft>
                <a:spcPts val="1100"/>
              </a:spcAft>
              <a:defRPr sz="2200" b="0">
                <a:solidFill>
                  <a:srgbClr val="24323E"/>
                </a:solidFill>
                <a:latin typeface="Aptos"/>
              </a:defRPr>
            </a:pPr>
            <a:r>
              <a:t>• Next evidence: independent test and verified physical speed units / health labels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